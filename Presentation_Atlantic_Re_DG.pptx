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6858000" y="-914400"/>
            <a:ext cx="7315200" cy="9144000"/>
          </a:xfrm>
          <a:prstGeom prst="parallelogram">
            <a:avLst>
              <a:gd name="adj" fmla="val 42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03120"/>
            <a:ext cx="777240" cy="9144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4028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92AF38"/>
                </a:solidFill>
                <a:latin typeface="Calibri"/>
              </a:rPr>
              <a:t>PROJET DE FIN D'ÉTUDES — ATLANTIC 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697480"/>
            <a:ext cx="100584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libri"/>
              </a:rPr>
              <a:t>Plate-forme intégrée de
gouvernance et d'aide à la décision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434840"/>
            <a:ext cx="100584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 i="1">
                <a:solidFill>
                  <a:srgbClr val="C9CED6"/>
                </a:solidFill>
                <a:latin typeface="Calibri"/>
              </a:rPr>
              <a:t>Pipeline ETL  ·  Plate-forme métier  ·  Scoring multicritère pour Reach2030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263640"/>
            <a:ext cx="12191695" cy="594360"/>
          </a:xfrm>
          <a:prstGeom prst="rect">
            <a:avLst/>
          </a:prstGeom>
          <a:solidFill>
            <a:srgbClr val="0F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32764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Présentation Direction Générale  ·  Exercice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6327648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92AF38"/>
                </a:solidFill>
                <a:latin typeface="Calibri"/>
              </a:rPr>
              <a:t>Pôle Business Développement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502920"/>
            <a:ext cx="2011680" cy="594360"/>
          </a:xfrm>
          <a:prstGeom prst="roundRect">
            <a:avLst>
              <a:gd name="adj" fmla="val 30000"/>
            </a:avLst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02920"/>
            <a:ext cx="20116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SOMMAIRE EXÉCUTIF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Agenda de la présentation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4864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02920" y="178308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17830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2AF3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6152" y="182880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2F46"/>
                </a:solidFill>
                <a:latin typeface="Calibri"/>
              </a:rPr>
              <a:t>Contexte stratégique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075688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08896"/>
                </a:solidFill>
                <a:latin typeface="Calibri"/>
              </a:rPr>
              <a:t>Reach2030 et ambition continentale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441448"/>
            <a:ext cx="54864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" y="244144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414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2AF38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248716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2F46"/>
                </a:solidFill>
                <a:latin typeface="Calibri"/>
              </a:rPr>
              <a:t>Benchmarking sectoriel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2734056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08896"/>
                </a:solidFill>
                <a:latin typeface="Calibri"/>
              </a:rPr>
              <a:t>Marché africain et paysage concurrentiel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3099816"/>
            <a:ext cx="54864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2920" y="3099816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09981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2AF38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16152" y="3145536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2F46"/>
                </a:solidFill>
                <a:latin typeface="Calibri"/>
              </a:rPr>
              <a:t>Analyse des besoins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392424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08896"/>
                </a:solidFill>
                <a:latin typeface="Calibri"/>
              </a:rPr>
              <a:t>Démarche itérative et constat terrain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3758184"/>
            <a:ext cx="54864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02920" y="375818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375818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2AF38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803904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2F46"/>
                </a:solidFill>
                <a:latin typeface="Calibri"/>
              </a:rPr>
              <a:t>La solution Atlantic 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16152" y="4050792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08896"/>
                </a:solidFill>
                <a:latin typeface="Calibri"/>
              </a:rPr>
              <a:t>Architecture et trajectoire de livraison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1783080"/>
            <a:ext cx="54864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263640" y="1783080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78308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2AF38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6872" y="1828800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2F46"/>
                </a:solidFill>
                <a:latin typeface="Calibri"/>
              </a:rPr>
              <a:t>Axe 1 — Pipeline ETL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76872" y="2075688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08896"/>
                </a:solidFill>
                <a:latin typeface="Calibri"/>
              </a:rPr>
              <a:t>Extraction, transformation, chargement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2441448"/>
            <a:ext cx="54864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263640" y="2441448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63640" y="2441448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2AF38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76872" y="2487168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2F46"/>
                </a:solidFill>
                <a:latin typeface="Calibri"/>
              </a:rPr>
              <a:t>Axe 2 — Plate-forme métier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76872" y="2734056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08896"/>
                </a:solidFill>
                <a:latin typeface="Calibri"/>
              </a:rPr>
              <a:t>Restitution, analyses, gouvernance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63640" y="3099816"/>
            <a:ext cx="54864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263640" y="3099816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3099816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2AF38"/>
                </a:solidFill>
                <a:latin typeface="Calibri"/>
              </a:rPr>
              <a:t>07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76872" y="3145536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2F46"/>
                </a:solidFill>
                <a:latin typeface="Calibri"/>
              </a:rPr>
              <a:t>Axe 3 — Machine 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76872" y="3392424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08896"/>
                </a:solidFill>
                <a:latin typeface="Calibri"/>
              </a:rPr>
              <a:t>Cartographies, scoring SCAR, recommandations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63640" y="3758184"/>
            <a:ext cx="5486400" cy="566928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263640" y="3758184"/>
            <a:ext cx="566928" cy="566928"/>
          </a:xfrm>
          <a:prstGeom prst="roundRect">
            <a:avLst>
              <a:gd name="adj" fmla="val 1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3758184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2AF38"/>
                </a:solidFill>
                <a:latin typeface="Calibri"/>
              </a:rPr>
              <a:t>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76872" y="3803904"/>
            <a:ext cx="4709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2F46"/>
                </a:solidFill>
                <a:latin typeface="Calibri"/>
              </a:rPr>
              <a:t>Convergence &amp; bilan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76872" y="4050792"/>
            <a:ext cx="47091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808896"/>
                </a:solidFill>
                <a:latin typeface="Calibri"/>
              </a:rPr>
              <a:t>Synergie, indicateurs et perspectives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Sommaire exécutif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02 / 36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7772400" y="-731520"/>
            <a:ext cx="6400800" cy="8503920"/>
          </a:xfrm>
          <a:prstGeom prst="parallelogram">
            <a:avLst>
              <a:gd name="adj" fmla="val 45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914400" cy="9144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92AF38"/>
                </a:solidFill>
                <a:latin typeface="Calibri"/>
              </a:rPr>
              <a:t>SECTION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Contexte stratégique et
ambition continentale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97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C9CED6"/>
                </a:solidFill>
                <a:latin typeface="Calibri"/>
              </a:rPr>
              <a:t>Le plan Reach2030 et le rôle du Pôle Business Développement.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2AF38"/>
                </a:solidFill>
                <a:latin typeface="Calibri"/>
              </a:rPr>
              <a:t>03 / 36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01 · CONTEXTE STRATÉGIQUE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Reach2030 — l'Afrique comme axe prioritaire de croissance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6858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L'opportunité africaine en chiffres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03120"/>
            <a:ext cx="67665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Pénétration de l'assurance &lt; 3 % du PIB en Afrique subsaharienne (vs &gt;7 % au niveau mondial).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Croissance démographique soutenue, urbanisation accélérée, projets d'infrastructure massifs.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Exposition climatique croissante — demande structurelle de couverture en hausse.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Capacité locale de souscription insuffisante : appel structurel à la réassurance internationale.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Atlantic Re bénéficie d'un ancrage marocain neutre et du soutien institutionnel du Groupe CDG.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691640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Atlantic Re — Exercice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2103120"/>
            <a:ext cx="20116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89520" y="2331720"/>
            <a:ext cx="91440" cy="82296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28600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4 039
MDH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2880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Chiffre d'affaires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92640" y="2103120"/>
            <a:ext cx="20116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692640" y="2331720"/>
            <a:ext cx="91440" cy="82296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0" y="228600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419
MDH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966960" y="288036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Résultat 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3520440"/>
            <a:ext cx="20116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89520" y="3749040"/>
            <a:ext cx="91440" cy="822960"/>
          </a:xfrm>
          <a:prstGeom prst="rect">
            <a:avLst/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370332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92,3 %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4297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Ratio combiné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92640" y="3520440"/>
            <a:ext cx="20116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92640" y="3749040"/>
            <a:ext cx="91440" cy="822960"/>
          </a:xfrm>
          <a:prstGeom prst="rect">
            <a:avLst/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966960" y="370332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215 %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429768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Ratio S2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459943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+9 pts vs N-1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589520" y="4937760"/>
            <a:ext cx="20116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589520" y="5166360"/>
            <a:ext cx="91440" cy="822960"/>
          </a:xfrm>
          <a:prstGeom prst="rect">
            <a:avLst/>
          </a:prstGeom>
          <a:solidFill>
            <a:srgbClr val="92A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0" y="512064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+ 60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0" y="57150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Pays couverts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92640" y="4937760"/>
            <a:ext cx="2011680" cy="12801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692640" y="5166360"/>
            <a:ext cx="91440" cy="822960"/>
          </a:xfrm>
          <a:prstGeom prst="rect">
            <a:avLst/>
          </a:prstGeom>
          <a:solidFill>
            <a:srgbClr val="92A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5120640"/>
            <a:ext cx="1645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+ 400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966960" y="5715000"/>
            <a:ext cx="16459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Clients actifs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2920" y="5532120"/>
            <a:ext cx="6766560" cy="914400"/>
          </a:xfrm>
          <a:prstGeom prst="roundRect">
            <a:avLst>
              <a:gd name="adj" fmla="val 10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6235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ENJEU DIRECTION GÉNÉRALE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870448"/>
            <a:ext cx="64008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Identifier — parmi des marchés africains très hétérogènes — ceux qui offrent
la meilleure combinaison potentiel × rentabilité × stabilité × dynamisme.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01 · Contexte stratégique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04 / 36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01 · CONTEXTE STRATÉGIQUE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Le Pôle Business Développement — cadre et défis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486400" cy="41148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MISSION DU PÔLE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402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Identifier et analyser les opportunités de développement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88920"/>
            <a:ext cx="50292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Alimentation des décisions de souscription Direction Générale.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Études de marché et veille concurrentielle continentale.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Mesure de l'attractivité des marchés cibles (potentiel, risque).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691640"/>
            <a:ext cx="54864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3640" y="1691640"/>
            <a:ext cx="5486400" cy="411480"/>
          </a:xfrm>
          <a:prstGeom prst="rect">
            <a:avLst/>
          </a:prstGeom>
          <a:solidFill>
            <a:srgbClr val="D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46520" y="1691640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DÉFIS RENCONTRÉS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24028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Outils manquants pour exploiter la donnée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2788920"/>
            <a:ext cx="5029200" cy="1325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DA3D44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Aucun portail de consultation des KPIs internes.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DA3D44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Manipulations Excel manuelles, versions divergentes.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DA3D44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Aucun référentiel externe consolidé pour benchmarker.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29768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Cadre d'intervention — 4 mois en immersion (Février → Juin 2026)</a:t>
            </a:r>
          </a:p>
        </p:txBody>
      </p:sp>
      <p:sp>
        <p:nvSpPr>
          <p:cNvPr id="20" name="Oval 19"/>
          <p:cNvSpPr/>
          <p:nvPr/>
        </p:nvSpPr>
        <p:spPr>
          <a:xfrm>
            <a:off x="1025434" y="4937760"/>
            <a:ext cx="548640" cy="548640"/>
          </a:xfrm>
          <a:prstGeom prst="ellipse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5434" y="49377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74074" y="5184648"/>
            <a:ext cx="1045028" cy="54864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5577840"/>
            <a:ext cx="15936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04B5B"/>
                </a:solidFill>
                <a:latin typeface="Calibri"/>
              </a:rPr>
              <a:t>Immersion
&amp; cadrage</a:t>
            </a:r>
          </a:p>
        </p:txBody>
      </p:sp>
      <p:sp>
        <p:nvSpPr>
          <p:cNvPr id="24" name="Oval 23"/>
          <p:cNvSpPr/>
          <p:nvPr/>
        </p:nvSpPr>
        <p:spPr>
          <a:xfrm>
            <a:off x="2619102" y="4937760"/>
            <a:ext cx="548640" cy="548640"/>
          </a:xfrm>
          <a:prstGeom prst="ellipse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19102" y="49377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67742" y="5184648"/>
            <a:ext cx="1045028" cy="54864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96588" y="5577840"/>
            <a:ext cx="15936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04B5B"/>
                </a:solidFill>
                <a:latin typeface="Calibri"/>
              </a:rPr>
              <a:t>Analyse
besoins</a:t>
            </a:r>
          </a:p>
        </p:txBody>
      </p:sp>
      <p:sp>
        <p:nvSpPr>
          <p:cNvPr id="28" name="Oval 27"/>
          <p:cNvSpPr/>
          <p:nvPr/>
        </p:nvSpPr>
        <p:spPr>
          <a:xfrm>
            <a:off x="4212771" y="4937760"/>
            <a:ext cx="548640" cy="548640"/>
          </a:xfrm>
          <a:prstGeom prst="ellipse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12771" y="49377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61411" y="5184648"/>
            <a:ext cx="1045028" cy="54864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90257" y="5577840"/>
            <a:ext cx="15936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04B5B"/>
                </a:solidFill>
                <a:latin typeface="Calibri"/>
              </a:rPr>
              <a:t>Architecture</a:t>
            </a:r>
          </a:p>
        </p:txBody>
      </p:sp>
      <p:sp>
        <p:nvSpPr>
          <p:cNvPr id="32" name="Oval 31"/>
          <p:cNvSpPr/>
          <p:nvPr/>
        </p:nvSpPr>
        <p:spPr>
          <a:xfrm>
            <a:off x="5806440" y="4937760"/>
            <a:ext cx="548640" cy="548640"/>
          </a:xfrm>
          <a:prstGeom prst="ellipse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806440" y="49377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S3-4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55080" y="5184648"/>
            <a:ext cx="1045028" cy="54864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83925" y="5577840"/>
            <a:ext cx="15936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04B5B"/>
                </a:solidFill>
                <a:latin typeface="Calibri"/>
              </a:rPr>
              <a:t>Portail
Axe 1</a:t>
            </a:r>
          </a:p>
        </p:txBody>
      </p:sp>
      <p:sp>
        <p:nvSpPr>
          <p:cNvPr id="36" name="Oval 35"/>
          <p:cNvSpPr/>
          <p:nvPr/>
        </p:nvSpPr>
        <p:spPr>
          <a:xfrm>
            <a:off x="7400108" y="4937760"/>
            <a:ext cx="548640" cy="548640"/>
          </a:xfrm>
          <a:prstGeom prst="ellipse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0108" y="49377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948748" y="5184648"/>
            <a:ext cx="1045028" cy="54864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77594" y="5577840"/>
            <a:ext cx="15936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04B5B"/>
                </a:solidFill>
                <a:latin typeface="Calibri"/>
              </a:rPr>
              <a:t>Données ext.
Axe 2</a:t>
            </a:r>
          </a:p>
        </p:txBody>
      </p:sp>
      <p:sp>
        <p:nvSpPr>
          <p:cNvPr id="40" name="Oval 39"/>
          <p:cNvSpPr/>
          <p:nvPr/>
        </p:nvSpPr>
        <p:spPr>
          <a:xfrm>
            <a:off x="8993777" y="4937760"/>
            <a:ext cx="548640" cy="548640"/>
          </a:xfrm>
          <a:prstGeom prst="ellipse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93777" y="49377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542417" y="5184648"/>
            <a:ext cx="1045028" cy="54864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71262" y="5577840"/>
            <a:ext cx="15936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04B5B"/>
                </a:solidFill>
                <a:latin typeface="Calibri"/>
              </a:rPr>
              <a:t>Modèle
SCAR</a:t>
            </a:r>
          </a:p>
        </p:txBody>
      </p:sp>
      <p:sp>
        <p:nvSpPr>
          <p:cNvPr id="44" name="Oval 43"/>
          <p:cNvSpPr/>
          <p:nvPr/>
        </p:nvSpPr>
        <p:spPr>
          <a:xfrm>
            <a:off x="10587445" y="4937760"/>
            <a:ext cx="548640" cy="548640"/>
          </a:xfrm>
          <a:prstGeom prst="ellipse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87445" y="493776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64931" y="5577840"/>
            <a:ext cx="159366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404B5B"/>
                </a:solidFill>
                <a:latin typeface="Calibri"/>
              </a:rPr>
              <a:t>Clôture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01 · Contexte stratégique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05 / 36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7772400" y="-731520"/>
            <a:ext cx="6400800" cy="8503920"/>
          </a:xfrm>
          <a:prstGeom prst="parallelogram">
            <a:avLst>
              <a:gd name="adj" fmla="val 45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914400" cy="9144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92AF38"/>
                </a:solidFill>
                <a:latin typeface="Calibri"/>
              </a:rPr>
              <a:t>SECTION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Benchmarking sectoriel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97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C9CED6"/>
                </a:solidFill>
                <a:latin typeface="Calibri"/>
              </a:rPr>
              <a:t>Lecture du marché africain et cartographie des acteurs en présence.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2AF38"/>
                </a:solidFill>
                <a:latin typeface="Calibri"/>
              </a:rPr>
              <a:t>06 / 36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02 · BENCHMARKING SECTORIEL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Le marché africain — une opportunité structurelle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7033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3703320" cy="36576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MOTEURS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Une demande qui s'amplifie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743200"/>
            <a:ext cx="33375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Croissance démographique +2,5 % / an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Urbanisation et classe moyenne en hausse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Programmes d'infrastructure publics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Multiplication des risques climatiques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ZLECAf — intégration commerciale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1783080"/>
            <a:ext cx="37033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89120" y="1783080"/>
            <a:ext cx="3703320" cy="365760"/>
          </a:xfrm>
          <a:prstGeom prst="rect">
            <a:avLst/>
          </a:prstGeom>
          <a:solidFill>
            <a:srgbClr val="D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7830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FREINS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28600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Asymétrie capacité / besoins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743200"/>
            <a:ext cx="33375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DA3D44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Pénétration &lt; 3 % PIB (vs &gt;7 % monde)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DA3D44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Capacités locales souvent fragmentées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DA3D44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Hétérogénéité réglementaire (CIMA, etc.)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DA3D44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Volatilité macroéconomique localisée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DA3D44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Provisionnement parfois peu fiable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75320" y="1783080"/>
            <a:ext cx="37033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75320" y="1783080"/>
            <a:ext cx="3703320" cy="365760"/>
          </a:xfrm>
          <a:prstGeom prst="rect">
            <a:avLst/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58200" y="1783080"/>
            <a:ext cx="3520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IMPLICATIONS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28600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Pour un réassureur international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743200"/>
            <a:ext cx="3337560" cy="2606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D5C7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Gisement structurel de primes à capter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D5C7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Nécessité d'une lecture marché par marché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D5C7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Discipline technique exigée (ULR, S/P)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D5C7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Positionnement neutre = avantage CDG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D5C7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Décision stratégique = besoin d'un outil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623560"/>
            <a:ext cx="11155680" cy="777240"/>
          </a:xfrm>
          <a:prstGeom prst="roundRect">
            <a:avLst>
              <a:gd name="adj" fmla="val 10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692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INSIGHT CLÉ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9788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FFFFFF"/>
                </a:solidFill>
                <a:latin typeface="Calibri"/>
              </a:rPr>
              <a:t>L'Afrique est la dernière grande frontière de croissance — la décision de souscription ne peut
plus reposer sur l'intuition. Elle exige un cadre quantitatif rigoureux et auditable.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02 · Benchmarking sectoriel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07 / 36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02 · BENCHMARKING SECTORIEL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Le paysage concurrentiel africain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532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91440" cy="201168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Réassureurs panafricains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377440"/>
            <a:ext cx="5074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Africa Re (premier panafricain — Atlantic Re actionnaire)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ZEP-Re (Afrique orientale et australe)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CICA-Re (réassureur institutionnel zone CIMA)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783080"/>
            <a:ext cx="5532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783080"/>
            <a:ext cx="91440" cy="201168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96596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Réassureurs internationaux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377440"/>
            <a:ext cx="5074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2C4762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Munich Re, Swiss Re, Hannover Re, Scor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2C4762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Souscription depuis sièges européens ou bureaux régionaux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2C4762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Forte capacité de placement, exigence technique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77640"/>
            <a:ext cx="5532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3977640"/>
            <a:ext cx="91440" cy="2011680"/>
          </a:xfrm>
          <a:prstGeom prst="rect">
            <a:avLst/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Réassureurs régionaux &amp; locaux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572000"/>
            <a:ext cx="5074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D5C7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Implantation anglophone, lusophone, CIMA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D5C7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Proximité réglementaire, relations historiques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3D5C7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Souvent moins capitalisés, périmètres limités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977640"/>
            <a:ext cx="5532120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0" y="3977640"/>
            <a:ext cx="91440" cy="2011680"/>
          </a:xfrm>
          <a:prstGeom prst="rect">
            <a:avLst/>
          </a:prstGeom>
          <a:solidFill>
            <a:srgbClr val="92A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4160520"/>
            <a:ext cx="5166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Courtiers globaux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572000"/>
            <a:ext cx="50749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92AF38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Aon, Guy Carpenter, Willis Re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92AF38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Influence croissante sur la structuration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92AF38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Accès à la capacité internationale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943600"/>
            <a:ext cx="11155680" cy="502920"/>
          </a:xfrm>
          <a:prstGeom prst="roundRect">
            <a:avLst>
              <a:gd name="adj" fmla="val 20000"/>
            </a:avLst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943600"/>
            <a:ext cx="3474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POSITIONNEMENT ATLANTIC 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51960" y="594360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Ancrage marocain neutre · 6 décennies d'expertise francophone · Soutien institutionnel CDG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02 · Benchmarking sectoriel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08 / 36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02 · BENCHMARKING SECTORIEL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Pratiques digitales du marché — où se situer 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926080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Pratique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29000" y="1783080"/>
            <a:ext cx="2651760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66160" y="17830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Industrie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783080"/>
            <a:ext cx="2651760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7830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Atlantic Re — avant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732520" y="1783080"/>
            <a:ext cx="2926080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0" y="17830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Atlantic Re — visé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86000"/>
            <a:ext cx="2926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2860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Plate-forme analytique unifiée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29000" y="228600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66160" y="228600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2F46"/>
                </a:solidFill>
                <a:latin typeface="Calibri"/>
              </a:rPr>
              <a:t>Standard Tier-1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228600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28600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A3D44"/>
                </a:solidFill>
                <a:latin typeface="Calibri"/>
              </a:rPr>
              <a:t>Aucune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732520" y="2286000"/>
            <a:ext cx="2926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0" y="22860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38C2C"/>
                </a:solidFill>
                <a:latin typeface="Calibri"/>
              </a:rPr>
              <a:t>Plate-forme Atlantic 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788920"/>
            <a:ext cx="292608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7889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Données externes consolidées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29000" y="2788920"/>
            <a:ext cx="265176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66160" y="278892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2F46"/>
                </a:solidFill>
                <a:latin typeface="Calibri"/>
              </a:rPr>
              <a:t>Achat outils tiers (Axco)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788920"/>
            <a:ext cx="265176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217920" y="278892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A3D44"/>
                </a:solidFill>
                <a:latin typeface="Calibri"/>
              </a:rPr>
              <a:t>Sources éclatées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732520" y="2788920"/>
            <a:ext cx="292608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0" y="278892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38C2C"/>
                </a:solidFill>
                <a:latin typeface="Calibri"/>
              </a:rPr>
              <a:t>Panel 34 pays × 10 ans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291840"/>
            <a:ext cx="2926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2918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Scoring multicritère marché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429000" y="329184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32918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2F46"/>
                </a:solidFill>
                <a:latin typeface="Calibri"/>
              </a:rPr>
              <a:t>Modèles internes propres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80760" y="329184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0" y="32918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A3D44"/>
                </a:solidFill>
                <a:latin typeface="Calibri"/>
              </a:rPr>
              <a:t>Inexistant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732520" y="3291840"/>
            <a:ext cx="2926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869680" y="329184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38C2C"/>
                </a:solidFill>
                <a:latin typeface="Calibri"/>
              </a:rPr>
              <a:t>Modèle SCAR calibré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794760"/>
            <a:ext cx="292608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7947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Réconciliation données cédantes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429000" y="3794760"/>
            <a:ext cx="265176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566160" y="379476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2F46"/>
                </a:solidFill>
                <a:latin typeface="Calibri"/>
              </a:rPr>
              <a:t>Workflow CRM dédié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3794760"/>
            <a:ext cx="265176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17920" y="379476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A3D44"/>
                </a:solidFill>
                <a:latin typeface="Calibri"/>
              </a:rPr>
              <a:t>Manuel, sous Excel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732520" y="3794760"/>
            <a:ext cx="292608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869680" y="379476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38C2C"/>
                </a:solidFill>
                <a:latin typeface="Calibri"/>
              </a:rPr>
              <a:t>Automatisée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297680"/>
            <a:ext cx="2926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2976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Sécurité / RBAC / audit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429000" y="429768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566160" y="42976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2F46"/>
                </a:solidFill>
                <a:latin typeface="Calibri"/>
              </a:rPr>
              <a:t>Norme ISO 27001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080760" y="4297680"/>
            <a:ext cx="26517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217920" y="429768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A3D44"/>
                </a:solidFill>
                <a:latin typeface="Calibri"/>
              </a:rPr>
              <a:t>Partielle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732520" y="4297680"/>
            <a:ext cx="292608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869680" y="429768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38C2C"/>
                </a:solidFill>
                <a:latin typeface="Calibri"/>
              </a:rPr>
              <a:t>RBAC + journal d'activité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4800600"/>
            <a:ext cx="292608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48006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Souveraineté de la donnée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29000" y="4800600"/>
            <a:ext cx="265176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566160" y="480060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1C2F46"/>
                </a:solidFill>
                <a:latin typeface="Calibri"/>
              </a:rPr>
              <a:t>Hébergement local stratégique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80760" y="4800600"/>
            <a:ext cx="265176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217920" y="480060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DA3D44"/>
                </a:solidFill>
                <a:latin typeface="Calibri"/>
              </a:rPr>
              <a:t>N/A</a:t>
            </a:r>
          </a:p>
        </p:txBody>
      </p:sp>
      <p:sp>
        <p:nvSpPr>
          <p:cNvPr id="63" name="Rectangle 62"/>
          <p:cNvSpPr/>
          <p:nvPr/>
        </p:nvSpPr>
        <p:spPr>
          <a:xfrm>
            <a:off x="8732520" y="4800600"/>
            <a:ext cx="292608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869680" y="4800600"/>
            <a:ext cx="26517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738C2C"/>
                </a:solidFill>
                <a:latin typeface="Calibri"/>
              </a:rPr>
              <a:t>100 % on-premise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5303520"/>
            <a:ext cx="11155680" cy="36576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02 · Benchmarking sectoriel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09 / 36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7772400" y="-731520"/>
            <a:ext cx="6400800" cy="8503920"/>
          </a:xfrm>
          <a:prstGeom prst="parallelogram">
            <a:avLst>
              <a:gd name="adj" fmla="val 45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914400" cy="9144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92AF38"/>
                </a:solidFill>
                <a:latin typeface="Calibri"/>
              </a:rPr>
              <a:t>SECTION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Analyse des besoins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97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C9CED6"/>
                </a:solidFill>
                <a:latin typeface="Calibri"/>
              </a:rPr>
              <a:t>Démarche itérative en trois cycles : du cadrage à la validation MoSCoW.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2AF38"/>
                </a:solidFill>
                <a:latin typeface="Calibri"/>
              </a:rPr>
              <a:t>10 / 36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03 · ANALYSE DES BESOINS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Une démarche itérative en trois cycles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82880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828800"/>
            <a:ext cx="3703320" cy="457200"/>
          </a:xfrm>
          <a:prstGeom prst="rect">
            <a:avLst/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288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CYCLE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9202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Sem. 1-2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774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2F46"/>
                </a:solidFill>
                <a:latin typeface="Calibri"/>
              </a:rPr>
              <a:t>Cadrage initial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34640"/>
            <a:ext cx="3337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3D5C7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Entretiens semi-directifs encadrant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3D5C7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Étude Reach2030 / Sigma / FANAF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3D5C7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Cartographie des parties prenantes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754880"/>
            <a:ext cx="3337560" cy="457200"/>
          </a:xfrm>
          <a:prstGeom prst="roundRect">
            <a:avLst>
              <a:gd name="adj" fmla="val 30000"/>
            </a:avLst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7548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→  Cahier des charges initial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4165092" y="3497580"/>
            <a:ext cx="182880" cy="182880"/>
          </a:xfrm>
          <a:prstGeom prst="rightArrow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80" y="182880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1828800"/>
            <a:ext cx="3703320" cy="457200"/>
          </a:xfrm>
          <a:prstGeom prst="rect">
            <a:avLst/>
          </a:prstGeom>
          <a:solidFill>
            <a:srgbClr val="F6A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18288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CYCLE 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95160" y="19202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Sem. 2-3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3774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2F46"/>
                </a:solidFill>
                <a:latin typeface="Calibri"/>
              </a:rPr>
              <a:t>Immersion terrain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2834640"/>
            <a:ext cx="3337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F6A856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Observation participante du Pôle BD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F6A856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Analyse documents internes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F6A856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Détection des besoins latents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4754880"/>
            <a:ext cx="3337560" cy="457200"/>
          </a:xfrm>
          <a:prstGeom prst="roundRect">
            <a:avLst>
              <a:gd name="adj" fmla="val 30000"/>
            </a:avLst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60" y="47548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→  Élargissement du périmètre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7959852" y="3497580"/>
            <a:ext cx="182880" cy="182880"/>
          </a:xfrm>
          <a:prstGeom prst="rightArrow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092440" y="182880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92440" y="1828800"/>
            <a:ext cx="3703320" cy="45720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75320" y="182880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CYCLE 3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89920" y="1920240"/>
            <a:ext cx="868680" cy="274320"/>
          </a:xfrm>
          <a:prstGeom prst="roundRect">
            <a:avLst>
              <a:gd name="adj" fmla="val 50000"/>
            </a:avLst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Sem.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23774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1C2F46"/>
                </a:solidFill>
                <a:latin typeface="Calibri"/>
              </a:rPr>
              <a:t>Validation MoSCoW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75320" y="2834640"/>
            <a:ext cx="33375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Consolidation BE + BL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Priorisation Must / Should / Could</a:t>
            </a:r>
          </a:p>
          <a:p>
            <a:pPr algn="l">
              <a:lnSpc>
                <a:spcPct val="135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Validation formelle encadrant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75320" y="4754880"/>
            <a:ext cx="3337560" cy="457200"/>
          </a:xfrm>
          <a:prstGeom prst="roundRect">
            <a:avLst>
              <a:gd name="adj" fmla="val 30000"/>
            </a:avLst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75320" y="47548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→  16 BF + 8 BNF validés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20" y="5669280"/>
            <a:ext cx="11155680" cy="731520"/>
          </a:xfrm>
          <a:prstGeom prst="roundRect">
            <a:avLst>
              <a:gd name="adj" fmla="val 10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715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PIVOT MÉTHODOLOGIQUE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943600"/>
            <a:ext cx="106984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1">
                <a:solidFill>
                  <a:srgbClr val="FFFFFF"/>
                </a:solidFill>
                <a:latin typeface="Calibri"/>
              </a:rPr>
              <a:t>Le Cycle 2 est décisif : il a transformé un PFE de modélisation pure en un projet de modélisation + digitalisation.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03 · Analyse des besoins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11 / 36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03 · ANALYSE DES BESOINS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Le constat terrain — 7 besoins latents identifiés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777240" cy="45720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Réf.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280160" y="1783080"/>
            <a:ext cx="4023360" cy="45720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178308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Besoin identifié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783080"/>
            <a:ext cx="4206240" cy="45720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17830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Impact opérationnel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509760" y="1783080"/>
            <a:ext cx="2148840" cy="45720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1783080"/>
            <a:ext cx="1874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Criticité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40280"/>
            <a:ext cx="777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24028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BL.1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280160" y="2240280"/>
            <a:ext cx="4023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17320" y="224028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Absence de consultation structurée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2240280"/>
            <a:ext cx="4206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22402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04B5B"/>
                </a:solidFill>
                <a:latin typeface="Calibri"/>
              </a:rPr>
              <a:t>Versions divergentes des KPI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509760" y="2240280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989820" y="23225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Critique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697480"/>
            <a:ext cx="777240" cy="4572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69748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BL.2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280160" y="2697480"/>
            <a:ext cx="4023360" cy="4572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417320" y="269748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Absence de filtrage multicritère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2697480"/>
            <a:ext cx="4206240" cy="4572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26974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04B5B"/>
                </a:solidFill>
                <a:latin typeface="Calibri"/>
              </a:rPr>
              <a:t>Tableaux croisés manuels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60" y="2697480"/>
            <a:ext cx="2148840" cy="4572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9989820" y="27797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Critique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154680"/>
            <a:ext cx="777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15468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BL.3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280160" y="3154680"/>
            <a:ext cx="4023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417320" y="315468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Indicateurs composites non calculés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0" y="3154680"/>
            <a:ext cx="4206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0680" y="31546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04B5B"/>
                </a:solidFill>
                <a:latin typeface="Calibri"/>
              </a:rPr>
              <a:t>Recalculs manuels, erreurs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509760" y="3154680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9989820" y="32369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6A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Élevée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611880"/>
            <a:ext cx="777240" cy="4572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61188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BL.4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280160" y="3611880"/>
            <a:ext cx="4023360" cy="4572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417320" y="361188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Incohérences de nommage cédantes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0" y="3611880"/>
            <a:ext cx="4206240" cy="4572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40680" y="36118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04B5B"/>
                </a:solidFill>
                <a:latin typeface="Calibri"/>
              </a:rPr>
              <a:t>Agrégations approximatives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509760" y="3611880"/>
            <a:ext cx="2148840" cy="4572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989820" y="36941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6A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Élevée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069080"/>
            <a:ext cx="777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06908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BL.5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280160" y="4069080"/>
            <a:ext cx="4023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417320" y="406908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Absence de comparaison directe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0" y="4069080"/>
            <a:ext cx="4206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40680" y="40690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04B5B"/>
                </a:solidFill>
                <a:latin typeface="Calibri"/>
              </a:rPr>
              <a:t>Benchmarking manuel entre marchés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509760" y="4069080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9989820" y="41513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CB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Modérée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" y="4526280"/>
            <a:ext cx="777240" cy="4572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40080" y="452628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BL.6</a:t>
            </a:r>
          </a:p>
        </p:txBody>
      </p:sp>
      <p:sp>
        <p:nvSpPr>
          <p:cNvPr id="59" name="Rectangle 58"/>
          <p:cNvSpPr/>
          <p:nvPr/>
        </p:nvSpPr>
        <p:spPr>
          <a:xfrm>
            <a:off x="1280160" y="4526280"/>
            <a:ext cx="4023360" cy="4572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417320" y="452628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Absence de traçabilité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303520" y="4526280"/>
            <a:ext cx="4206240" cy="4572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40680" y="45262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04B5B"/>
                </a:solidFill>
                <a:latin typeface="Calibri"/>
              </a:rPr>
              <a:t>Audit d'usage impossible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509760" y="4526280"/>
            <a:ext cx="2148840" cy="45720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9989820" y="46085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FCB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Modérée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02920" y="4983480"/>
            <a:ext cx="777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0080" y="4983480"/>
            <a:ext cx="502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BL.7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1280160" y="4983480"/>
            <a:ext cx="402336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417320" y="4983480"/>
            <a:ext cx="37490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Modèle externe non fiabilisable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303520" y="4983480"/>
            <a:ext cx="42062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440680" y="49834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04B5B"/>
                </a:solidFill>
                <a:latin typeface="Calibri"/>
              </a:rPr>
              <a:t>Données internes non assainies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09760" y="4983480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ounded Rectangle 71"/>
          <p:cNvSpPr/>
          <p:nvPr/>
        </p:nvSpPr>
        <p:spPr>
          <a:xfrm>
            <a:off x="9989820" y="5065776"/>
            <a:ext cx="1188720" cy="292608"/>
          </a:xfrm>
          <a:prstGeom prst="roundRect">
            <a:avLst>
              <a:gd name="adj" fmla="val 50000"/>
            </a:avLst>
          </a:prstGeom>
          <a:solidFill>
            <a:srgbClr val="D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Critique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2920" y="5577840"/>
            <a:ext cx="11155680" cy="868680"/>
          </a:xfrm>
          <a:prstGeom prst="roundRect">
            <a:avLst>
              <a:gd name="adj" fmla="val 10000"/>
            </a:avLst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77240" y="56692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CONSÉQUENCE STRATÉGIQUE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77240" y="59436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FFFFFF"/>
                </a:solidFill>
                <a:latin typeface="Calibri"/>
              </a:rPr>
              <a:t>Sans assainissement préalable de la donnée interne, tout modèle externe d'attractivité de marché
serait construit sur un socle non fiable. La digitalisation devient un prérequis, pas un complément.</a:t>
            </a:r>
          </a:p>
        </p:txBody>
      </p:sp>
      <p:sp>
        <p:nvSpPr>
          <p:cNvPr id="76" name="Rectangle 75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03 · Analyse des besoins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12 / 36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03 · ANALYSE DES BESOINS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Élargissement du périmètre — trois axes complémentaires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691640"/>
            <a:ext cx="502920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691640"/>
            <a:ext cx="5029200" cy="365760"/>
          </a:xfrm>
          <a:prstGeom prst="rect">
            <a:avLst/>
          </a:prstGeom>
          <a:solidFill>
            <a:srgbClr val="8088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69164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PÉRIMÈTRE INITIAL — COMMANDE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19456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C2F46"/>
                </a:solidFill>
                <a:latin typeface="Calibri"/>
              </a:rPr>
              <a:t>Modélisation pure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457200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Modèle de scoring multicritère.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Données externes longitudinales 10 ans.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Restitution cartographique.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852160" y="2423160"/>
            <a:ext cx="411480" cy="502920"/>
          </a:xfrm>
          <a:prstGeom prst="rightArrow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583680" y="1691640"/>
            <a:ext cx="5074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9050">
            <a:solidFill>
              <a:srgbClr val="738C2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1691640"/>
            <a:ext cx="5074920" cy="36576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1691640"/>
            <a:ext cx="46177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PÉRIMÈTRE ÉLARGI — VALIDÉ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194560"/>
            <a:ext cx="4617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1C2F46"/>
                </a:solidFill>
                <a:latin typeface="Calibri"/>
              </a:rPr>
              <a:t>Pipeline ETL + Plateforme + ML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697480"/>
            <a:ext cx="461772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Axe 1 — Pipeline ETL multi-sources.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Axe 2 — Plate-forme métier de gouvernance.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Axe 3 — Machine learning multicritère SCAR.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3749039"/>
            <a:ext cx="3703320" cy="2743200"/>
          </a:xfrm>
          <a:prstGeom prst="roundRect">
            <a:avLst>
              <a:gd name="adj" fmla="val 6000"/>
            </a:avLst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931919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2AF38"/>
                </a:solidFill>
                <a:latin typeface="Calibri"/>
              </a:rPr>
              <a:t>AXE 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06239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Pipeline ETL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754879"/>
            <a:ext cx="31546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92AF38"/>
                </a:solidFill>
                <a:latin typeface="Calibri"/>
              </a:rPr>
              <a:t>●  </a:t>
            </a:r>
            <a:r>
              <a:rPr sz="1050">
                <a:solidFill>
                  <a:srgbClr val="FFFFFF"/>
                </a:solidFill>
                <a:latin typeface="Calibri"/>
              </a:rPr>
              <a:t>5 sources hétérogènes intégrées.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92AF38"/>
                </a:solidFill>
                <a:latin typeface="Calibri"/>
              </a:rPr>
              <a:t>●  </a:t>
            </a:r>
            <a:r>
              <a:rPr sz="1050">
                <a:solidFill>
                  <a:srgbClr val="FFFFFF"/>
                </a:solidFill>
                <a:latin typeface="Calibri"/>
              </a:rPr>
              <a:t>Imputation hiérarchique 3 niveaux.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92AF38"/>
                </a:solidFill>
                <a:latin typeface="Calibri"/>
              </a:rPr>
              <a:t>●  </a:t>
            </a:r>
            <a:r>
              <a:rPr sz="1050">
                <a:solidFill>
                  <a:srgbClr val="FFFFFF"/>
                </a:solidFill>
                <a:latin typeface="Calibri"/>
              </a:rPr>
              <a:t>Matching flou cédantes (&gt;95 % recall).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92AF38"/>
                </a:solidFill>
                <a:latin typeface="Calibri"/>
              </a:rPr>
              <a:t>●  </a:t>
            </a:r>
            <a:r>
              <a:rPr sz="1050">
                <a:solidFill>
                  <a:srgbClr val="FFFFFF"/>
                </a:solidFill>
                <a:latin typeface="Calibri"/>
              </a:rPr>
              <a:t>Schéma en étoile, traçabilité totale.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749039"/>
            <a:ext cx="3703320" cy="2743200"/>
          </a:xfrm>
          <a:prstGeom prst="roundRect">
            <a:avLst>
              <a:gd name="adj" fmla="val 6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931919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2AF38"/>
                </a:solidFill>
                <a:latin typeface="Calibri"/>
              </a:rPr>
              <a:t>AXE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206239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Plate-forme métier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4754879"/>
            <a:ext cx="31546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92AF38"/>
                </a:solidFill>
                <a:latin typeface="Calibri"/>
              </a:rPr>
              <a:t>●  </a:t>
            </a:r>
            <a:r>
              <a:rPr sz="1050">
                <a:solidFill>
                  <a:srgbClr val="FFFFFF"/>
                </a:solidFill>
                <a:latin typeface="Calibri"/>
              </a:rPr>
              <a:t>31 pages — dashboard, analyses, pilotage.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92AF38"/>
                </a:solidFill>
                <a:latin typeface="Calibri"/>
              </a:rPr>
              <a:t>●  </a:t>
            </a:r>
            <a:r>
              <a:rPr sz="1050">
                <a:solidFill>
                  <a:srgbClr val="FFFFFF"/>
                </a:solidFill>
                <a:latin typeface="Calibri"/>
              </a:rPr>
              <a:t>Cédantes, courtiers, TTY, FAC, rétro.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92AF38"/>
                </a:solidFill>
                <a:latin typeface="Calibri"/>
              </a:rPr>
              <a:t>●  </a:t>
            </a:r>
            <a:r>
              <a:rPr sz="1050">
                <a:solidFill>
                  <a:srgbClr val="FFFFFF"/>
                </a:solidFill>
                <a:latin typeface="Calibri"/>
              </a:rPr>
              <a:t>Cartographies thématiques + fiche pays.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92AF38"/>
                </a:solidFill>
                <a:latin typeface="Calibri"/>
              </a:rPr>
              <a:t>●  </a:t>
            </a:r>
            <a:r>
              <a:rPr sz="1050">
                <a:solidFill>
                  <a:srgbClr val="FFFFFF"/>
                </a:solidFill>
                <a:latin typeface="Calibri"/>
              </a:rPr>
              <a:t>RBAC + audit d'activité horodaté.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749039"/>
            <a:ext cx="3703320" cy="2743200"/>
          </a:xfrm>
          <a:prstGeom prst="roundRect">
            <a:avLst>
              <a:gd name="adj" fmla="val 6000"/>
            </a:avLst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931919"/>
            <a:ext cx="3154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C2D"/>
                </a:solidFill>
                <a:latin typeface="Calibri"/>
              </a:rPr>
              <a:t>AXE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206239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Calibri"/>
              </a:rPr>
              <a:t>Machine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4754879"/>
            <a:ext cx="3154680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1C2F46"/>
                </a:solidFill>
                <a:latin typeface="Calibri"/>
              </a:rPr>
              <a:t>●  </a:t>
            </a:r>
            <a:r>
              <a:rPr sz="1050">
                <a:solidFill>
                  <a:srgbClr val="FFFFFF"/>
                </a:solidFill>
                <a:latin typeface="Calibri"/>
              </a:rPr>
              <a:t>Modèle SCAR — 5 dimensions, score 0-100.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1C2F46"/>
                </a:solidFill>
                <a:latin typeface="Calibri"/>
              </a:rPr>
              <a:t>●  </a:t>
            </a:r>
            <a:r>
              <a:rPr sz="1050">
                <a:solidFill>
                  <a:srgbClr val="FFFFFF"/>
                </a:solidFill>
                <a:latin typeface="Calibri"/>
              </a:rPr>
              <a:t>Validation Leave-One-Country-Out (LOCO).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1C2F46"/>
                </a:solidFill>
                <a:latin typeface="Calibri"/>
              </a:rPr>
              <a:t>●  </a:t>
            </a:r>
            <a:r>
              <a:rPr sz="1050">
                <a:solidFill>
                  <a:srgbClr val="FFFFFF"/>
                </a:solidFill>
                <a:latin typeface="Calibri"/>
              </a:rPr>
              <a:t>Recommandations Attractif / Neutre / Éviter.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1">
                <a:solidFill>
                  <a:srgbClr val="1C2F46"/>
                </a:solidFill>
                <a:latin typeface="Calibri"/>
              </a:rPr>
              <a:t>●  </a:t>
            </a:r>
            <a:r>
              <a:rPr sz="1050">
                <a:solidFill>
                  <a:srgbClr val="FFFFFF"/>
                </a:solidFill>
                <a:latin typeface="Calibri"/>
              </a:rPr>
              <a:t>34 pays × 10 ans calibrés.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03 · Analyse des besoins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13 / 36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7772400" y="-731520"/>
            <a:ext cx="6400800" cy="8503920"/>
          </a:xfrm>
          <a:prstGeom prst="parallelogram">
            <a:avLst>
              <a:gd name="adj" fmla="val 45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914400" cy="9144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92AF38"/>
                </a:solidFill>
                <a:latin typeface="Calibri"/>
              </a:rPr>
              <a:t>SECTION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La solution 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97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C9CED6"/>
                </a:solidFill>
                <a:latin typeface="Calibri"/>
              </a:rPr>
              <a:t>Architecture trois-tiers et trajectoire de livraison en huit sprints.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2AF38"/>
                </a:solidFill>
                <a:latin typeface="Calibri"/>
              </a:rPr>
              <a:t>14 / 36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04 · SOLUTION ATLANTIC 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Architecture trois-tiers — moderne, sécurisée, souveraine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11556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164592" cy="141732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68680" y="20574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PRÉSENTATION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5146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React 18  ·  TypeScript  ·  Vite  ·  TailwindCSS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889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04B5B"/>
                </a:solidFill>
                <a:latin typeface="Calibri"/>
              </a:rPr>
              <a:t>31 pages — Axe 1 (Dashboard, Cédantes, Brokers, TTY, FAC, Rétro) + Axe 2 (4 cartographies, fiche pays, comparaison)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383280"/>
            <a:ext cx="111556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383280"/>
            <a:ext cx="164592" cy="14173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68680" y="36576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MÉTIER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148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FastAPI  ·  Python 3.12  ·  JWT  ·  Pandas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3891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04B5B"/>
                </a:solidFill>
                <a:latin typeface="Calibri"/>
              </a:rPr>
              <a:t>22 routeurs · 25 services · Cœur algorithmique scoring SCAR · Middlewares CORS / RBAC / Rate-limit / Audit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983480"/>
            <a:ext cx="11155680" cy="14173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4983480"/>
            <a:ext cx="164592" cy="1417320"/>
          </a:xfrm>
          <a:prstGeom prst="rect">
            <a:avLst/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68680" y="5257800"/>
            <a:ext cx="1828800" cy="365760"/>
          </a:xfrm>
          <a:prstGeom prst="roundRect">
            <a:avLst>
              <a:gd name="adj" fmla="val 50000"/>
            </a:avLst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DONNÉES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71500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Pandas in-memory  ·  MySQL  ·  SQLAlchemy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9893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04B5B"/>
                </a:solidFill>
                <a:latin typeface="Calibri"/>
              </a:rPr>
              <a:t>Excel portefeuille (in-memory) · Base RBAC + journal d'activité · Référentiel pays + 4 tables thématiques externes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8007" y="589788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Performance &lt; 2 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58287" y="589788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Sécurité JWT + RBAC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98567" y="589788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Souveraineté on-prem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38847" y="589788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92A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Audit horodaté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79127" y="5897880"/>
            <a:ext cx="2194560" cy="365760"/>
          </a:xfrm>
          <a:prstGeom prst="roundRect">
            <a:avLst>
              <a:gd name="adj" fmla="val 50000"/>
            </a:avLst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Reproductibilité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04 · Solution Atlantic 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15 / 36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04 · SOLUTION ATLANTIC 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Trajectoire de livraison — 8 sprints, 5 mois, 4 jalons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2889504"/>
            <a:ext cx="11018520" cy="54864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53833" y="2560320"/>
            <a:ext cx="658368" cy="658368"/>
          </a:xfrm>
          <a:prstGeom prst="ellipse">
            <a:avLst/>
          </a:prstGeom>
          <a:solidFill>
            <a:srgbClr val="3D5C7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53833" y="2560320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9513" y="333756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C2F46"/>
                </a:solidFill>
                <a:latin typeface="Calibri"/>
              </a:rPr>
              <a:t>Immersion
&amp; cadrage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513" y="21945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3 sem</a:t>
            </a:r>
          </a:p>
        </p:txBody>
      </p:sp>
      <p:sp>
        <p:nvSpPr>
          <p:cNvPr id="14" name="Oval 13"/>
          <p:cNvSpPr/>
          <p:nvPr/>
        </p:nvSpPr>
        <p:spPr>
          <a:xfrm>
            <a:off x="2331148" y="2560320"/>
            <a:ext cx="658368" cy="658368"/>
          </a:xfrm>
          <a:prstGeom prst="ellipse">
            <a:avLst/>
          </a:prstGeom>
          <a:solidFill>
            <a:srgbClr val="3D5C7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148" y="2560320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6828" y="333756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C2F46"/>
                </a:solidFill>
                <a:latin typeface="Calibri"/>
              </a:rPr>
              <a:t>Analyse
&amp; conception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6828" y="21945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2 sem</a:t>
            </a:r>
          </a:p>
        </p:txBody>
      </p:sp>
      <p:sp>
        <p:nvSpPr>
          <p:cNvPr id="18" name="Diamond 17"/>
          <p:cNvSpPr/>
          <p:nvPr/>
        </p:nvSpPr>
        <p:spPr>
          <a:xfrm>
            <a:off x="2514028" y="3977640"/>
            <a:ext cx="274320" cy="274320"/>
          </a:xfrm>
          <a:prstGeom prst="diamond">
            <a:avLst/>
          </a:prstGeom>
          <a:solidFill>
            <a:srgbClr val="FCBE25"/>
          </a:solidFill>
          <a:ln w="6350">
            <a:solidFill>
              <a:srgbClr val="1C2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73948" y="42976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CBE25"/>
                </a:solidFill>
                <a:latin typeface="Calibri"/>
              </a:rPr>
              <a:t>Élargissement</a:t>
            </a:r>
          </a:p>
        </p:txBody>
      </p:sp>
      <p:sp>
        <p:nvSpPr>
          <p:cNvPr id="20" name="Oval 19"/>
          <p:cNvSpPr/>
          <p:nvPr/>
        </p:nvSpPr>
        <p:spPr>
          <a:xfrm>
            <a:off x="3708463" y="2560320"/>
            <a:ext cx="658368" cy="658368"/>
          </a:xfrm>
          <a:prstGeom prst="ellipse">
            <a:avLst/>
          </a:prstGeom>
          <a:solidFill>
            <a:srgbClr val="3D5C7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08463" y="2560320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34143" y="333756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C2F46"/>
                </a:solidFill>
                <a:latin typeface="Calibri"/>
              </a:rPr>
              <a:t>Architecture
&amp; infra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34143" y="21945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2 sem</a:t>
            </a:r>
          </a:p>
        </p:txBody>
      </p:sp>
      <p:sp>
        <p:nvSpPr>
          <p:cNvPr id="24" name="Oval 23"/>
          <p:cNvSpPr/>
          <p:nvPr/>
        </p:nvSpPr>
        <p:spPr>
          <a:xfrm>
            <a:off x="5085778" y="2560320"/>
            <a:ext cx="658368" cy="658368"/>
          </a:xfrm>
          <a:prstGeom prst="ellipse">
            <a:avLst/>
          </a:prstGeom>
          <a:solidFill>
            <a:srgbClr val="738C2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85778" y="2560320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11458" y="333756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C2F46"/>
                </a:solidFill>
                <a:latin typeface="Calibri"/>
              </a:rPr>
              <a:t>Portail
Dashboard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11458" y="21945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3 sem</a:t>
            </a:r>
          </a:p>
        </p:txBody>
      </p:sp>
      <p:sp>
        <p:nvSpPr>
          <p:cNvPr id="28" name="Oval 27"/>
          <p:cNvSpPr/>
          <p:nvPr/>
        </p:nvSpPr>
        <p:spPr>
          <a:xfrm>
            <a:off x="6463093" y="2560320"/>
            <a:ext cx="658368" cy="658368"/>
          </a:xfrm>
          <a:prstGeom prst="ellipse">
            <a:avLst/>
          </a:prstGeom>
          <a:solidFill>
            <a:srgbClr val="738C2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3093" y="2560320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88773" y="333756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C2F46"/>
                </a:solidFill>
                <a:latin typeface="Calibri"/>
              </a:rPr>
              <a:t>Portail
Métier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88773" y="21945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3 sem</a:t>
            </a:r>
          </a:p>
        </p:txBody>
      </p:sp>
      <p:sp>
        <p:nvSpPr>
          <p:cNvPr id="32" name="Diamond 31"/>
          <p:cNvSpPr/>
          <p:nvPr/>
        </p:nvSpPr>
        <p:spPr>
          <a:xfrm>
            <a:off x="6645973" y="3977640"/>
            <a:ext cx="274320" cy="274320"/>
          </a:xfrm>
          <a:prstGeom prst="diamond">
            <a:avLst/>
          </a:prstGeom>
          <a:solidFill>
            <a:srgbClr val="FCBE25"/>
          </a:solidFill>
          <a:ln w="6350">
            <a:solidFill>
              <a:srgbClr val="1C2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005893" y="42976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CBE25"/>
                </a:solidFill>
                <a:latin typeface="Calibri"/>
              </a:rPr>
              <a:t>MVP Axe 1</a:t>
            </a:r>
          </a:p>
        </p:txBody>
      </p:sp>
      <p:sp>
        <p:nvSpPr>
          <p:cNvPr id="34" name="Oval 33"/>
          <p:cNvSpPr/>
          <p:nvPr/>
        </p:nvSpPr>
        <p:spPr>
          <a:xfrm>
            <a:off x="7840408" y="2560320"/>
            <a:ext cx="658368" cy="658368"/>
          </a:xfrm>
          <a:prstGeom prst="ellipse">
            <a:avLst/>
          </a:prstGeom>
          <a:solidFill>
            <a:srgbClr val="92AF3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40408" y="2560320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6088" y="333756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C2F46"/>
                </a:solidFill>
                <a:latin typeface="Calibri"/>
              </a:rPr>
              <a:t>Données ext.
&amp; cartos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66088" y="21945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4 sem</a:t>
            </a:r>
          </a:p>
        </p:txBody>
      </p:sp>
      <p:sp>
        <p:nvSpPr>
          <p:cNvPr id="38" name="Diamond 37"/>
          <p:cNvSpPr/>
          <p:nvPr/>
        </p:nvSpPr>
        <p:spPr>
          <a:xfrm>
            <a:off x="8023288" y="3977640"/>
            <a:ext cx="274320" cy="274320"/>
          </a:xfrm>
          <a:prstGeom prst="diamond">
            <a:avLst/>
          </a:prstGeom>
          <a:solidFill>
            <a:srgbClr val="FCBE25"/>
          </a:solidFill>
          <a:ln w="6350">
            <a:solidFill>
              <a:srgbClr val="1C2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83208" y="42976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CBE25"/>
                </a:solidFill>
                <a:latin typeface="Calibri"/>
              </a:rPr>
              <a:t>Axe 2 livré</a:t>
            </a:r>
          </a:p>
        </p:txBody>
      </p:sp>
      <p:sp>
        <p:nvSpPr>
          <p:cNvPr id="40" name="Oval 39"/>
          <p:cNvSpPr/>
          <p:nvPr/>
        </p:nvSpPr>
        <p:spPr>
          <a:xfrm>
            <a:off x="9217723" y="2560320"/>
            <a:ext cx="658368" cy="658368"/>
          </a:xfrm>
          <a:prstGeom prst="ellipse">
            <a:avLst/>
          </a:prstGeom>
          <a:solidFill>
            <a:srgbClr val="DA3D4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17723" y="2560320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943403" y="333756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C2F46"/>
                </a:solidFill>
                <a:latin typeface="Calibri"/>
              </a:rPr>
              <a:t>Modèle
SCAR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3403" y="21945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2 sem</a:t>
            </a:r>
          </a:p>
        </p:txBody>
      </p:sp>
      <p:sp>
        <p:nvSpPr>
          <p:cNvPr id="44" name="Oval 43"/>
          <p:cNvSpPr/>
          <p:nvPr/>
        </p:nvSpPr>
        <p:spPr>
          <a:xfrm>
            <a:off x="10595038" y="2560320"/>
            <a:ext cx="658368" cy="658368"/>
          </a:xfrm>
          <a:prstGeom prst="ellipse">
            <a:avLst/>
          </a:prstGeom>
          <a:solidFill>
            <a:srgbClr val="1C2F46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595038" y="2560320"/>
            <a:ext cx="658368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20718" y="3337560"/>
            <a:ext cx="1188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1C2F46"/>
                </a:solidFill>
                <a:latin typeface="Calibri"/>
              </a:rPr>
              <a:t>Intégration
&amp; clôture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320718" y="2194560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2 sem</a:t>
            </a:r>
          </a:p>
        </p:txBody>
      </p:sp>
      <p:sp>
        <p:nvSpPr>
          <p:cNvPr id="48" name="Diamond 47"/>
          <p:cNvSpPr/>
          <p:nvPr/>
        </p:nvSpPr>
        <p:spPr>
          <a:xfrm>
            <a:off x="10777918" y="3977640"/>
            <a:ext cx="274320" cy="274320"/>
          </a:xfrm>
          <a:prstGeom prst="diamond">
            <a:avLst/>
          </a:prstGeom>
          <a:solidFill>
            <a:srgbClr val="FCBE25"/>
          </a:solidFill>
          <a:ln w="6350">
            <a:solidFill>
              <a:srgbClr val="1C2F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137838" y="4297680"/>
            <a:ext cx="1554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CBE25"/>
                </a:solidFill>
                <a:latin typeface="Calibri"/>
              </a:rPr>
              <a:t>Soutenance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1874519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808896"/>
                </a:solidFill>
                <a:latin typeface="Calibri"/>
              </a:rPr>
              <a:t>FÉVRIER          ·          MARS          ·          AVRIL          ·          MAI          ·          JUIN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02920" y="534924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" y="5577840"/>
            <a:ext cx="91440" cy="64008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7240" y="553212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31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77240" y="61264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Pages applicatives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337560" y="534924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337560" y="5577840"/>
            <a:ext cx="91440" cy="64008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11880" y="553212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11880" y="61264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Besoins fonctionnels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6172200" y="534924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172200" y="5577840"/>
            <a:ext cx="91440" cy="640080"/>
          </a:xfrm>
          <a:prstGeom prst="rect">
            <a:avLst/>
          </a:prstGeom>
          <a:solidFill>
            <a:srgbClr val="92A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46520" y="553212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34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46520" y="61264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Pays africains couverts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9006840" y="534924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006840" y="5577840"/>
            <a:ext cx="91440" cy="640080"/>
          </a:xfrm>
          <a:prstGeom prst="rect">
            <a:avLst/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81160" y="553212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10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81160" y="612648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Exercices historisés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04 · Solution Atlantic Re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16 / 36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7772400" y="-731520"/>
            <a:ext cx="6400800" cy="8503920"/>
          </a:xfrm>
          <a:prstGeom prst="parallelogram">
            <a:avLst>
              <a:gd name="adj" fmla="val 45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914400" cy="9144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92AF38"/>
                </a:solidFill>
                <a:latin typeface="Calibri"/>
              </a:rPr>
              <a:t>SECTION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Axe 1 — Pipeline ETL
multi-sources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97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C9CED6"/>
                </a:solidFill>
                <a:latin typeface="Calibri"/>
              </a:rPr>
              <a:t>Extraction, transformation, chargement — fondations data du projet.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2AF38"/>
                </a:solidFill>
                <a:latin typeface="Calibri"/>
              </a:rPr>
              <a:t>17 / 36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05 · AXE 1 — PIPELINE ETL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Architecture E · T · L — du fichier brut au schéma exploitable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1783080"/>
            <a:ext cx="3703320" cy="45720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7830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E — EXTRACT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Collecte multi-sources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80360"/>
            <a:ext cx="333756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5 sources hétérogènes (CSV, XLSX, JSON, API).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Acquisition automatisable Axco / WGI / FMI.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Versionnement par millésime exercice.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738C2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Logs de collecte horodatés.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174236" y="3451860"/>
            <a:ext cx="182880" cy="182880"/>
          </a:xfrm>
          <a:prstGeom prst="rightArrow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80" y="178308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297680" y="1783080"/>
            <a:ext cx="3703320" cy="45720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60" y="17830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T — TRANSFORM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23774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Normalisation &amp; enrichissement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880360"/>
            <a:ext cx="333756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2C4762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Canonicalisation des codes pays (ISO-3).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2C4762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Imputation hiérarchique 3 niveaux.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2C4762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Calcul d'indicateurs dérivés (densité, S/P).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2C4762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Annotation fiabilité de chaque cellule.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7968996" y="3451860"/>
            <a:ext cx="182880" cy="182880"/>
          </a:xfrm>
          <a:prstGeom prst="rightArrow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92440" y="1783080"/>
            <a:ext cx="3703320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92440" y="1783080"/>
            <a:ext cx="3703320" cy="457200"/>
          </a:xfrm>
          <a:prstGeom prst="rect">
            <a:avLst/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75320" y="178308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L — 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2377440"/>
            <a:ext cx="33375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Chargement vers schéma étoile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2880360"/>
            <a:ext cx="3337560" cy="2331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3D5C7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Tables de référence : ref_pays.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3D5C7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Tables de faits : ext_marche_vie / non_vie.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3D5C7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ext_macroeconomie · ext_gouvernance.</a:t>
            </a:r>
          </a:p>
          <a:p>
            <a:pPr algn="l">
              <a:lnSpc>
                <a:spcPct val="140000"/>
              </a:lnSpc>
              <a:spcAft>
                <a:spcPts val="400"/>
              </a:spcAft>
            </a:pPr>
            <a:r>
              <a:rPr sz="1100" b="1">
                <a:solidFill>
                  <a:srgbClr val="3D5C7C"/>
                </a:solidFill>
                <a:latin typeface="Calibri"/>
              </a:rPr>
              <a:t>●  </a:t>
            </a:r>
            <a:r>
              <a:rPr sz="1100">
                <a:solidFill>
                  <a:srgbClr val="404B5B"/>
                </a:solidFill>
                <a:latin typeface="Calibri"/>
              </a:rPr>
              <a:t>Indexation pays × année pour requêtes &lt; 2 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5532120"/>
            <a:ext cx="11155680" cy="914400"/>
          </a:xfrm>
          <a:prstGeom prst="roundRect">
            <a:avLst>
              <a:gd name="adj" fmla="val 10000"/>
            </a:avLst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6235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EXIGENCE OPÉRATIONNELLE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897880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FFFFFF"/>
                </a:solidFill>
                <a:latin typeface="Calibri"/>
              </a:rPr>
              <a:t>Reproductibilité bout-en-bout : tout exercice peut être reconstitué à partir du fichier source
et du script ETL versionné — exigence des comités de risque et d'audit.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05 · Axe 1 — Pipeline ETL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18 / 36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05 · AXE 1 — PIPELINE ETL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Cinq sources de référence — un panel africain inédit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606040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78308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Source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1783080"/>
            <a:ext cx="2194560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46120" y="178308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Périmètre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303520" y="1783080"/>
            <a:ext cx="4160520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40680" y="178308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Variables clés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464040" y="1783080"/>
            <a:ext cx="2194560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78308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Justification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286000"/>
            <a:ext cx="26060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28600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2F46"/>
                </a:solidFill>
                <a:latin typeface="Calibri"/>
              </a:rPr>
              <a:t>Axco Navigator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0" y="228600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46120" y="22860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38C2C"/>
                </a:solidFill>
                <a:latin typeface="Calibri"/>
              </a:rPr>
              <a:t>Marchés Vie / Non-Vie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303520" y="2286000"/>
            <a:ext cx="41605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40680" y="228600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C2F46"/>
                </a:solidFill>
                <a:latin typeface="Calibri"/>
              </a:rPr>
              <a:t>Primes, pénétration, densité, croissance, S/P par marché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64040" y="228600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228600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04B5B"/>
                </a:solidFill>
                <a:latin typeface="Calibri"/>
              </a:rPr>
              <a:t>Référence sectorielle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2788920"/>
            <a:ext cx="260604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278892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2F46"/>
                </a:solidFill>
                <a:latin typeface="Calibri"/>
              </a:rPr>
              <a:t>WGI Banque Mondiale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08960" y="2788920"/>
            <a:ext cx="219456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46120" y="27889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38C2C"/>
                </a:solidFill>
                <a:latin typeface="Calibri"/>
              </a:rPr>
              <a:t>Gouvernance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303520" y="2788920"/>
            <a:ext cx="416052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40680" y="278892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C2F46"/>
                </a:solidFill>
                <a:latin typeface="Calibri"/>
              </a:rPr>
              <a:t>6 indicateurs de qualité institutionnelle (1996-2024)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464040" y="2788920"/>
            <a:ext cx="219456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278892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04B5B"/>
                </a:solidFill>
                <a:latin typeface="Calibri"/>
              </a:rPr>
              <a:t>Standard académique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3291840"/>
            <a:ext cx="26060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329184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2F46"/>
                </a:solidFill>
                <a:latin typeface="Calibri"/>
              </a:rPr>
              <a:t>FMI WEO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108960" y="329184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46120" y="32918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38C2C"/>
                </a:solidFill>
                <a:latin typeface="Calibri"/>
              </a:rPr>
              <a:t>Macroéconomie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03520" y="3291840"/>
            <a:ext cx="41605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40680" y="329184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C2F46"/>
                </a:solidFill>
                <a:latin typeface="Calibri"/>
              </a:rPr>
              <a:t>PIB, croissance, inflation, PIB/hab PPP, balance courante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464040" y="329184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0" y="329184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04B5B"/>
                </a:solidFill>
                <a:latin typeface="Calibri"/>
              </a:rPr>
              <a:t>Source officielle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3794760"/>
            <a:ext cx="260604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" y="379476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2F46"/>
                </a:solidFill>
                <a:latin typeface="Calibri"/>
              </a:rPr>
              <a:t>FANAF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60" y="3794760"/>
            <a:ext cx="219456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46120" y="37947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38C2C"/>
                </a:solidFill>
                <a:latin typeface="Calibri"/>
              </a:rPr>
              <a:t>Marché francophone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303520" y="3794760"/>
            <a:ext cx="416052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40680" y="379476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C2F46"/>
                </a:solidFill>
                <a:latin typeface="Calibri"/>
              </a:rPr>
              <a:t>Statistiques zone CIMA — primes, sinistres, ratios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64040" y="3794760"/>
            <a:ext cx="2194560" cy="502920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01200" y="379476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04B5B"/>
                </a:solidFill>
                <a:latin typeface="Calibri"/>
              </a:rPr>
              <a:t>Réseau institutionnel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4297680"/>
            <a:ext cx="260604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" y="4297680"/>
            <a:ext cx="23317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1C2F46"/>
                </a:solidFill>
                <a:latin typeface="Calibri"/>
              </a:rPr>
              <a:t>Atlas Magazine / Sigma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108960" y="429768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46120" y="429768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738C2C"/>
                </a:solidFill>
                <a:latin typeface="Calibri"/>
              </a:rPr>
              <a:t>Concurrence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303520" y="4297680"/>
            <a:ext cx="416052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40680" y="4297680"/>
            <a:ext cx="3886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1C2F46"/>
                </a:solidFill>
                <a:latin typeface="Calibri"/>
              </a:rPr>
              <a:t>Top réassureurs, parts de marché, classements continentaux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464040" y="4297680"/>
            <a:ext cx="2194560" cy="5029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601200" y="4297680"/>
            <a:ext cx="19202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04B5B"/>
                </a:solidFill>
                <a:latin typeface="Calibri"/>
              </a:rPr>
              <a:t>Veille sectorielle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502920" y="507492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" y="5303520"/>
            <a:ext cx="91440" cy="64008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7240" y="525780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34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77240" y="58521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Pays africains intégrés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337560" y="507492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337560" y="5303520"/>
            <a:ext cx="91440" cy="64008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611880" y="525780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10 ans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611880" y="58521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Profondeur historique (2015-2024)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72200" y="507492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72200" y="5303520"/>
            <a:ext cx="91440" cy="640080"/>
          </a:xfrm>
          <a:prstGeom prst="rect">
            <a:avLst/>
          </a:prstGeom>
          <a:solidFill>
            <a:srgbClr val="92A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46520" y="525780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&gt; 95 %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446520" y="585216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Recall matching cédantes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9006840" y="5074920"/>
            <a:ext cx="265176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9006840" y="5303520"/>
            <a:ext cx="91440" cy="640080"/>
          </a:xfrm>
          <a:prstGeom prst="rect">
            <a:avLst/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81160" y="5257800"/>
            <a:ext cx="228600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281160" y="5852160"/>
            <a:ext cx="2286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Sources fédérées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502920" y="6355080"/>
            <a:ext cx="11155680" cy="164592"/>
          </a:xfrm>
          <a:prstGeom prst="roundRect">
            <a:avLst>
              <a:gd name="adj" fmla="val 30000"/>
            </a:avLst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05 · Axe 1 — Pipeline ETL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19 / 36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05 · AXE 1 — PIPELINE ETL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Imputation hiérarchique — fiabiliser sans inventer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12 / 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Pays à données complètes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7830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F6A8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85623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22 / 34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3774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Pays nécessitant imputation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7830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85623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3774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Niveaux de fallback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7830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92A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85623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100 %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37744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Cellules annotées fiabilité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1089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108960"/>
            <a:ext cx="3611880" cy="36576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1089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NIVEAU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61188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Interpolation temporelle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11480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04B5B"/>
                </a:solidFill>
                <a:latin typeface="Calibri"/>
              </a:rPr>
              <a:t>Linéaire ou spline cubique sur la chronique du même pays.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4800600"/>
            <a:ext cx="3246120" cy="457200"/>
          </a:xfrm>
          <a:prstGeom prst="roundRect">
            <a:avLst>
              <a:gd name="adj" fmla="val 20000"/>
            </a:avLst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48006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1C2F46"/>
                </a:solidFill>
                <a:latin typeface="Calibri"/>
              </a:rPr>
              <a:t>Fiabilité élevée — comble les trous courts.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51960" y="31089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51960" y="3108960"/>
            <a:ext cx="3611880" cy="365760"/>
          </a:xfrm>
          <a:prstGeom prst="rect">
            <a:avLst/>
          </a:prstGeom>
          <a:solidFill>
            <a:srgbClr val="FCB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51960" y="31089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NIVEAU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34840" y="361188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Inférence régionale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411480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04B5B"/>
                </a:solidFill>
                <a:latin typeface="Calibri"/>
              </a:rPr>
              <a:t>Médiane par bloc régional (CIMA · SADC · CEDEAO).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34840" y="4800600"/>
            <a:ext cx="3246120" cy="457200"/>
          </a:xfrm>
          <a:prstGeom prst="roundRect">
            <a:avLst>
              <a:gd name="adj" fmla="val 20000"/>
            </a:avLst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34840" y="48006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1C2F46"/>
                </a:solidFill>
                <a:latin typeface="Calibri"/>
              </a:rPr>
              <a:t>Fiabilité moyenne — capture l'effet zone monétaire.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01000" y="3108960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001000" y="3108960"/>
            <a:ext cx="3611880" cy="365760"/>
          </a:xfrm>
          <a:prstGeom prst="rect">
            <a:avLst/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001000" y="3108960"/>
            <a:ext cx="36118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NIVEAU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80" y="3611880"/>
            <a:ext cx="3246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Apprentissage supervisé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80" y="4114800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404B5B"/>
                </a:solidFill>
                <a:latin typeface="Calibri"/>
              </a:rPr>
              <a:t>Régression à partir de variables corrélées (PIB, démographie).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83880" y="4800600"/>
            <a:ext cx="3246120" cy="457200"/>
          </a:xfrm>
          <a:prstGeom prst="roundRect">
            <a:avLst>
              <a:gd name="adj" fmla="val 20000"/>
            </a:avLst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183880" y="4800600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 i="1">
                <a:solidFill>
                  <a:srgbClr val="1C2F46"/>
                </a:solidFill>
                <a:latin typeface="Calibri"/>
              </a:rPr>
              <a:t>Fiabilité contrôlée — annotée pour transparence.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05 · Axe 1 — Pipeline ETL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20 / 36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7772400" y="-731520"/>
            <a:ext cx="6400800" cy="8503920"/>
          </a:xfrm>
          <a:prstGeom prst="parallelogram">
            <a:avLst>
              <a:gd name="adj" fmla="val 45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914400" cy="9144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92AF38"/>
                </a:solidFill>
                <a:latin typeface="Calibri"/>
              </a:rPr>
              <a:t>SECTION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Axe 2 — Plate-forme
métier de gouvernance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97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C9CED6"/>
                </a:solidFill>
                <a:latin typeface="Calibri"/>
              </a:rPr>
              <a:t>Restitution, analyses, pilotage et gouvernance — résultats par module.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2AF38"/>
                </a:solidFill>
                <a:latin typeface="Calibri"/>
              </a:rPr>
              <a:t>21 / 36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06 · AXE 2 — RESTITUTION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Tableau de bord consolidé du portefeuille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KPIs d'en-tête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Vues croisées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4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Temps réel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Mise à jour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2F46"/>
                </a:solidFill>
                <a:latin typeface="Calibri"/>
              </a:rPr>
              <a:t>Fonctionnalités livrées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2900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Primes écrites, résultat technique, ULR pondéré, nombre de contrats.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Évolution temporelle pluriannuelle + alertes ULR critiques.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Répartitions par branche, par origine FAC vs Traités.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Cartographie mondiale interactive avec tooltips.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783080"/>
            <a:ext cx="57607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38C2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39728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39728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72500" y="347472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05088" y="3538728"/>
            <a:ext cx="237744" cy="237744"/>
          </a:xfrm>
          <a:prstGeom prst="ellipse">
            <a:avLst/>
          </a:prstGeom>
          <a:solidFill>
            <a:srgbClr val="92AF3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411480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C4762"/>
                </a:solidFill>
                <a:latin typeface="Calibri"/>
              </a:rPr>
              <a:t>Capture — Dashboard principal (route /dashboard)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3891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Zone réservée — insérer la capture après export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06 · Axe 2 — Plate-forme métier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22 / 36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06 · AXE 2 — RESTITUTION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Filtrage multicritère — exploration fine du portefeuille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15+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Critères croisables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Niveaux de filtres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4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&lt; 2 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Restitution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2F46"/>
                </a:solidFill>
                <a:latin typeface="Calibri"/>
              </a:rPr>
              <a:t>Fonctionnalités livrées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2900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Filtres identitaires : exercice, cédante, courtier, statut.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Filtres d'analyse : branche, pays, type de contrat (FAC / TTY / TTE).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Filtres financiers : seuils de primes, ULR, parts souscrites.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État sérialisable — partage de vue d'analyse entre utilisateurs.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783080"/>
            <a:ext cx="57607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38C2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39728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39728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72500" y="347472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05088" y="3538728"/>
            <a:ext cx="237744" cy="237744"/>
          </a:xfrm>
          <a:prstGeom prst="ellipse">
            <a:avLst/>
          </a:prstGeom>
          <a:solidFill>
            <a:srgbClr val="92AF3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411480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C4762"/>
                </a:solidFill>
                <a:latin typeface="Calibri"/>
              </a:rPr>
              <a:t>Capture — Panneau de filtrage global déployé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3891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Zone réservée — insérer la capture après export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06 · Axe 2 — Plate-forme métier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23 / 36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06 · AXE 2 — ANALYSES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Analyses cédantes &amp; courtiers — réconciliation par matching flou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&gt; 95 %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Recall matching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RapidFuzz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Levenshtein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4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Jellyfish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Phonétique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2F46"/>
                </a:solidFill>
                <a:latin typeface="Calibri"/>
              </a:rPr>
              <a:t>Fonctionnalités livrées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2900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Profil cédante : historique, ULR, indice de diversification, répartition par branche.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Matching flou des dénominations — RapidFuzz (Levenshtein) + Jellyfish (phonétique).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Réconciliation automatique de jusqu'à 6 variantes par cédante.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Profil courtier : volume intermédié, branches, cédantes apportées.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Forage agrégé → contrats élémentaires en un clic.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783080"/>
            <a:ext cx="57607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38C2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39728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39728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72500" y="347472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05088" y="3538728"/>
            <a:ext cx="237744" cy="237744"/>
          </a:xfrm>
          <a:prstGeom prst="ellipse">
            <a:avLst/>
          </a:prstGeom>
          <a:solidFill>
            <a:srgbClr val="92AF3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411480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C4762"/>
                </a:solidFill>
                <a:latin typeface="Calibri"/>
              </a:rPr>
              <a:t>Capture — Fiche cédante (route /analyse-cedante/:cedante)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3891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Zone réservée — insérer la capture après export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06 · Axe 2 — Plate-forme métier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24 / 36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06 · AXE 2 — PILOTAGE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Comparaison directe &amp; cibles TTY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2-4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Entités comparables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Axes radar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4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Filtres rapides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2F46"/>
                </a:solidFill>
                <a:latin typeface="Calibri"/>
              </a:rPr>
              <a:t>Fonctionnalités livrées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2900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Comparaison côte-à-côte : Pays × Branche, Cédante vs Cédante.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Radar normalisé sur 5 axes (Primes, Résultat, ULR, Diversité, SI).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Cibles TTY : repérage des cédantes à transformer en traité additionnel.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Boutons Stable / Baisse / Hausse — lecture instantanée du potentiel.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783080"/>
            <a:ext cx="57607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38C2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39728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39728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72500" y="347472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05088" y="3538728"/>
            <a:ext cx="237744" cy="237744"/>
          </a:xfrm>
          <a:prstGeom prst="ellipse">
            <a:avLst/>
          </a:prstGeom>
          <a:solidFill>
            <a:srgbClr val="92AF3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411480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C4762"/>
                </a:solidFill>
                <a:latin typeface="Calibri"/>
              </a:rPr>
              <a:t>Capture — Module Comparaison ou Cibles TTY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3891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Zone réservée — insérer la capture après export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06 · Axe 2 — Plate-forme métier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25 / 36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06 · AXE 2 — PILOTAGE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Saturation FAC &amp; Rétrocession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Auto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Détection abus FAC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EPI / PMD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Calculs métier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4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Multi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Partenaires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2F46"/>
                </a:solidFill>
                <a:latin typeface="Calibri"/>
              </a:rPr>
              <a:t>Fonctionnalités livrées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2900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Algorithme OR — détection automatique des cédantes en sur-utilisation FAC.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Surbrillance rouge des branches au-delà des seuils métier.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Module rétrocession : EPI, PMD, Taux de placement.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Vue dédiée Sécurités — analyse des partenaires porteurs.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783080"/>
            <a:ext cx="57607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38C2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39728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39728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72500" y="347472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05088" y="3538728"/>
            <a:ext cx="237744" cy="237744"/>
          </a:xfrm>
          <a:prstGeom prst="ellipse">
            <a:avLst/>
          </a:prstGeom>
          <a:solidFill>
            <a:srgbClr val="92AF3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411480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C4762"/>
                </a:solidFill>
                <a:latin typeface="Calibri"/>
              </a:rPr>
              <a:t>Capture — FAC Saturation ou Rétrocession Affaires Traitées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3891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Zone réservée — insérer la capture après export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06 · Axe 2 — Plate-forme métier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26 / 36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06 · AXE 2 — GOUVERNANCE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Administration, sécurité et auditabilité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Profils RBAC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100 %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Actions tracées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4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Authentification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2F46"/>
                </a:solidFill>
                <a:latin typeface="Calibri"/>
              </a:rPr>
              <a:t>Fonctionnalités livrées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2900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RBAC — Administrateur · Souscripteur · Lecteur.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CRUD complet utilisateurs + réinitialisation mot de passe.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Journal d'activité horodaté et immuable.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Configuration des sources Excel persistées sans reload backend.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783080"/>
            <a:ext cx="57607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38C2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39728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39728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72500" y="347472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05088" y="3538728"/>
            <a:ext cx="237744" cy="237744"/>
          </a:xfrm>
          <a:prstGeom prst="ellipse">
            <a:avLst/>
          </a:prstGeom>
          <a:solidFill>
            <a:srgbClr val="92AF3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411480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C4762"/>
                </a:solidFill>
                <a:latin typeface="Calibri"/>
              </a:rPr>
              <a:t>Capture — Panneau Administration (route /admin)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3891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Zone réservée — insérer la capture après export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06 · Axe 2 — Plate-forme métier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27 / 36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7772400" y="-731520"/>
            <a:ext cx="6400800" cy="8503920"/>
          </a:xfrm>
          <a:prstGeom prst="parallelogram">
            <a:avLst>
              <a:gd name="adj" fmla="val 45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914400" cy="9144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92AF38"/>
                </a:solidFill>
                <a:latin typeface="Calibri"/>
              </a:rPr>
              <a:t>SECTION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Axe 3 — Machine Learning
multicritère SCAR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97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C9CED6"/>
                </a:solidFill>
                <a:latin typeface="Calibri"/>
              </a:rPr>
              <a:t>Cartographies thématiques, fiches pays, scoring SCAR et recommandations.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2AF38"/>
                </a:solidFill>
                <a:latin typeface="Calibri"/>
              </a:rPr>
              <a:t>28 / 36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07 · AXE 3 — DONNÉES DU MODÈLE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Le panel Africa 2030 — fondations du scoring ML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5000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Pays africains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7830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85623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35000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Exercices (2015-24)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7830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92A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185623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35000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Tables thématiques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78308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0" y="1856232"/>
            <a:ext cx="2697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2350008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Niveaux d'imputation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10896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" y="3108960"/>
            <a:ext cx="2697480" cy="36576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1089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MARCHÉ NON-VIE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61188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2F46"/>
                </a:solidFill>
                <a:latin typeface="Calibri"/>
              </a:rPr>
              <a:t>Primes, pénétration,
densité, croissance, S/P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4754880"/>
            <a:ext cx="2331720" cy="320040"/>
          </a:xfrm>
          <a:prstGeom prst="roundRect">
            <a:avLst>
              <a:gd name="adj" fmla="val 30000"/>
            </a:avLst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47548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404B5B"/>
                </a:solidFill>
                <a:latin typeface="Calibri"/>
              </a:rPr>
              <a:t>Axco Navigator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91840" y="310896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91840" y="3108960"/>
            <a:ext cx="2697480" cy="36576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1089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MARCHÉ VIE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361188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2F46"/>
                </a:solidFill>
                <a:latin typeface="Calibri"/>
              </a:rPr>
              <a:t>Primes, pénétration,
densité, croissance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74720" y="4754880"/>
            <a:ext cx="2331720" cy="320040"/>
          </a:xfrm>
          <a:prstGeom prst="roundRect">
            <a:avLst>
              <a:gd name="adj" fmla="val 30000"/>
            </a:avLst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47548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404B5B"/>
                </a:solidFill>
                <a:latin typeface="Calibri"/>
              </a:rPr>
              <a:t>Axco Navigator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310896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0760" y="3108960"/>
            <a:ext cx="2697480" cy="36576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80760" y="31089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MACROÉCONOMIE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40" y="361188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2F46"/>
                </a:solidFill>
                <a:latin typeface="Calibri"/>
              </a:rPr>
              <a:t>PIB, croissance, inflation,
PIB/hab PPP, courant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4754880"/>
            <a:ext cx="2331720" cy="320040"/>
          </a:xfrm>
          <a:prstGeom prst="roundRect">
            <a:avLst>
              <a:gd name="adj" fmla="val 30000"/>
            </a:avLst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63640" y="47548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404B5B"/>
                </a:solidFill>
                <a:latin typeface="Calibri"/>
              </a:rPr>
              <a:t>FMI WEO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869680" y="310896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869680" y="3108960"/>
            <a:ext cx="2697480" cy="36576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69680" y="31089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GOUVERNANCE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3611880"/>
            <a:ext cx="23317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1C2F46"/>
                </a:solidFill>
                <a:latin typeface="Calibri"/>
              </a:rPr>
              <a:t>Stabilité, qualité régul.,
Kaopen, IDE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52560" y="4754880"/>
            <a:ext cx="2331720" cy="320040"/>
          </a:xfrm>
          <a:prstGeom prst="roundRect">
            <a:avLst>
              <a:gd name="adj" fmla="val 30000"/>
            </a:avLst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52560" y="4754880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404B5B"/>
                </a:solidFill>
                <a:latin typeface="Calibri"/>
              </a:rPr>
              <a:t>BM WGI · Chinn-Ito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502920" y="5577840"/>
            <a:ext cx="11155680" cy="868680"/>
          </a:xfrm>
          <a:prstGeom prst="roundRect">
            <a:avLst>
              <a:gd name="adj" fmla="val 10000"/>
            </a:avLst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66928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DIFFÉRENCIATEUR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94360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1">
                <a:solidFill>
                  <a:srgbClr val="FFFFFF"/>
                </a:solidFill>
                <a:latin typeface="Calibri"/>
              </a:rPr>
              <a:t>Chaque valeur imputée est annotée par sa méthode d'imputation et son niveau de fiabilité —
traçabilité totale exigée par les comités de risque.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07 · Axe 3 — Machine Learning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29 / 36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07 · AXE 3 — RESTITUTION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Cartographies thématiques interactives — 4 dimensions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Modules cartos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Top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Classement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4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Choro.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Carte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2F46"/>
                </a:solidFill>
                <a:latin typeface="Calibri"/>
              </a:rPr>
              <a:t>Fonctionnalités livrées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2900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Carte choroplèthe Afrique avec sélecteur indicateur × année.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Indicateurs synthétiques + Top 10 dynamique.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Vue croisée configurable (deux indicateurs simultanés).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Séries temporelles, matrice pays × années, distributions, classement triable.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783080"/>
            <a:ext cx="57607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38C2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39728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39728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72500" y="347472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05088" y="3538728"/>
            <a:ext cx="237744" cy="237744"/>
          </a:xfrm>
          <a:prstGeom prst="ellipse">
            <a:avLst/>
          </a:prstGeom>
          <a:solidFill>
            <a:srgbClr val="92AF3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411480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C4762"/>
                </a:solidFill>
                <a:latin typeface="Calibri"/>
              </a:rPr>
              <a:t>Capture — Cartographie Non-Vie ou Macroéconomie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3891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Zone réservée — insérer la capture après export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07 · Axe 3 — Machine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30 / 36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07 · AXE 3 — RESTITUTION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Fiche pays multidimensionnelle &amp; comparaison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Dimensions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4028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24028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Radar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Profil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77640" y="1783080"/>
            <a:ext cx="1554480" cy="1005840"/>
          </a:xfrm>
          <a:prstGeom prst="roundRect">
            <a:avLst>
              <a:gd name="adj" fmla="val 8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977640" y="1856232"/>
            <a:ext cx="1554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92AF38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77640" y="2377440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Pays comparables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01752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1C2F46"/>
                </a:solidFill>
                <a:latin typeface="Calibri"/>
              </a:rPr>
              <a:t>Fonctionnalités livrées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429000"/>
            <a:ext cx="5212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Profil consolidé : marché Vie + Non-Vie + macro + gouvernance.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Graphique radar et positionnement continental relatif.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Comparaison côte-à-côte de deux pays sur l'ensemble des dimensions.</a:t>
            </a:r>
          </a:p>
          <a:p>
            <a:pPr algn="l">
              <a:lnSpc>
                <a:spcPct val="145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Commentaires analytiques générés dynamiquement à partir des données.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783080"/>
            <a:ext cx="57607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38C2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943600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539728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943600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1539728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572500" y="347472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705088" y="3538728"/>
            <a:ext cx="237744" cy="237744"/>
          </a:xfrm>
          <a:prstGeom prst="ellipse">
            <a:avLst/>
          </a:prstGeom>
          <a:solidFill>
            <a:srgbClr val="92AF3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0" y="411480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C4762"/>
                </a:solidFill>
                <a:latin typeface="Calibri"/>
              </a:rPr>
              <a:t>Capture — Fiche pays ou Comparaison transnationale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3891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Zone réservée — insérer la capture après export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07 · Axe 3 — Machine 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31 / 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07 · AXE 3 — SCORING SCAR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Le modèle SCAR — synthèse multicritère pour la décision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Cinq dimensions agrégées en un score 0-100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2240280"/>
            <a:ext cx="56692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40280"/>
            <a:ext cx="91440" cy="50292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240280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2F46"/>
                </a:solidFill>
                <a:latin typeface="Calibri"/>
              </a:rPr>
              <a:t>Économique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240280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04B5B"/>
                </a:solidFill>
                <a:latin typeface="Calibri"/>
              </a:rPr>
              <a:t>PIB, croissance, inflation, PIB/hab PPP, intégration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807208"/>
            <a:ext cx="56692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2807208"/>
            <a:ext cx="91440" cy="502920"/>
          </a:xfrm>
          <a:prstGeom prst="rect">
            <a:avLst/>
          </a:prstGeom>
          <a:solidFill>
            <a:srgbClr val="92A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807208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2F46"/>
                </a:solidFill>
                <a:latin typeface="Calibri"/>
              </a:rPr>
              <a:t>Marché Assurance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807208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04B5B"/>
                </a:solidFill>
                <a:latin typeface="Calibri"/>
              </a:rPr>
              <a:t>Primes, pénétration, densité, S/P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374136"/>
            <a:ext cx="56692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3374136"/>
            <a:ext cx="91440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3374136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2F46"/>
                </a:solidFill>
                <a:latin typeface="Calibri"/>
              </a:rPr>
              <a:t>Réglementaire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3374136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04B5B"/>
                </a:solidFill>
                <a:latin typeface="Calibri"/>
              </a:rPr>
              <a:t>WGI, stabilité politique, Kaopen, IDE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941064"/>
            <a:ext cx="56692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02920" y="3941064"/>
            <a:ext cx="91440" cy="502920"/>
          </a:xfrm>
          <a:prstGeom prst="rect">
            <a:avLst/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941064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2F46"/>
                </a:solidFill>
                <a:latin typeface="Calibri"/>
              </a:rPr>
              <a:t>Concurrentielle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941064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04B5B"/>
                </a:solidFill>
                <a:latin typeface="Calibri"/>
              </a:rPr>
              <a:t>Nb réassureurs, part de marché Top 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" y="4507992"/>
            <a:ext cx="5669280" cy="502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" y="4507992"/>
            <a:ext cx="91440" cy="502920"/>
          </a:xfrm>
          <a:prstGeom prst="rect">
            <a:avLst/>
          </a:prstGeom>
          <a:solidFill>
            <a:srgbClr val="D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507992"/>
            <a:ext cx="1828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C2F46"/>
                </a:solidFill>
                <a:latin typeface="Calibri"/>
              </a:rPr>
              <a:t>Interne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4507992"/>
            <a:ext cx="3520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404B5B"/>
                </a:solidFill>
                <a:latin typeface="Calibri"/>
              </a:rPr>
              <a:t>Primes nettes, ULR, résultat, sinistres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178308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Sorties opérationnelles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2240280"/>
            <a:ext cx="52578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83680" y="242316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ATTRACTIF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233172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04B5B"/>
                </a:solidFill>
                <a:latin typeface="Calibri"/>
              </a:rPr>
              <a:t>Marché à prioriser — souscription active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3108960"/>
            <a:ext cx="52578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83680" y="329184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FCB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NEUTRE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320040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04B5B"/>
                </a:solidFill>
                <a:latin typeface="Calibri"/>
              </a:rPr>
              <a:t>Maintenir — surveiller les inflexions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0" y="3977640"/>
            <a:ext cx="525780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583680" y="4160520"/>
            <a:ext cx="1417320" cy="365760"/>
          </a:xfrm>
          <a:prstGeom prst="roundRect">
            <a:avLst>
              <a:gd name="adj" fmla="val 50000"/>
            </a:avLst>
          </a:prstGeom>
          <a:solidFill>
            <a:srgbClr val="D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À ÉVITER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83879" y="4069080"/>
            <a:ext cx="338328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04B5B"/>
                </a:solidFill>
                <a:latin typeface="Calibri"/>
              </a:rPr>
              <a:t>Risque &gt; rentabilité — désengagement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983480"/>
            <a:ext cx="5257800" cy="1417320"/>
          </a:xfrm>
          <a:prstGeom prst="roundRect">
            <a:avLst>
              <a:gd name="adj" fmla="val 6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ÉTAT D'AVANCEMENT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0" y="5349240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Composante en cours de finalisation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83680" y="5779008"/>
            <a:ext cx="49377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1">
                <a:solidFill>
                  <a:srgbClr val="C9CED6"/>
                </a:solidFill>
                <a:latin typeface="Calibri"/>
              </a:rPr>
              <a:t>Calibration et validation Leave-One-Country-Out
livrées au Sprint 6 (juin 2026).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07 · Axe 3 — Machine Learning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32 / 36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07 · AXE 3 — PIPELINE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Entraînement, validation LOCO et recommandations actionnables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91640"/>
            <a:ext cx="11155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Pipeline d'apprentissage et de scoring</a:t>
            </a:r>
          </a:p>
        </p:txBody>
      </p:sp>
      <p:sp>
        <p:nvSpPr>
          <p:cNvPr id="10" name="Oval 9"/>
          <p:cNvSpPr/>
          <p:nvPr/>
        </p:nvSpPr>
        <p:spPr>
          <a:xfrm>
            <a:off x="1307592" y="2240280"/>
            <a:ext cx="621792" cy="621792"/>
          </a:xfrm>
          <a:prstGeom prst="ellipse">
            <a:avLst/>
          </a:prstGeom>
          <a:solidFill>
            <a:srgbClr val="738C2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07592" y="2240280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953512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Préparation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246120"/>
            <a:ext cx="223113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04B5B"/>
                </a:solidFill>
                <a:latin typeface="Calibri"/>
              </a:rPr>
              <a:t>Standardisation
Feature engineering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29384" y="2523744"/>
            <a:ext cx="1609344" cy="54864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8728" y="2240280"/>
            <a:ext cx="621792" cy="621792"/>
          </a:xfrm>
          <a:prstGeom prst="ellipse">
            <a:avLst/>
          </a:prstGeom>
          <a:solidFill>
            <a:srgbClr val="2C4762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2240280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4056" y="2953512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Entraînement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4056" y="3246120"/>
            <a:ext cx="223113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04B5B"/>
                </a:solidFill>
                <a:latin typeface="Calibri"/>
              </a:rPr>
              <a:t>scikit-learn · pondération
des 5 dimensions SCAR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60520" y="2523744"/>
            <a:ext cx="1609344" cy="54864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769864" y="2240280"/>
            <a:ext cx="621792" cy="621792"/>
          </a:xfrm>
          <a:prstGeom prst="ellipse">
            <a:avLst/>
          </a:prstGeom>
          <a:solidFill>
            <a:srgbClr val="3D5C7C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69864" y="2240280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65192" y="2953512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Validation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65192" y="3246120"/>
            <a:ext cx="223113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04B5B"/>
                </a:solidFill>
                <a:latin typeface="Calibri"/>
              </a:rPr>
              <a:t>Leave-One-Country-Out
(34 itérations)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91656" y="2523744"/>
            <a:ext cx="1609344" cy="54864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001000" y="2240280"/>
            <a:ext cx="621792" cy="621792"/>
          </a:xfrm>
          <a:prstGeom prst="ellipse">
            <a:avLst/>
          </a:prstGeom>
          <a:solidFill>
            <a:srgbClr val="92AF38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1000" y="2240280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96328" y="2953512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96328" y="3246120"/>
            <a:ext cx="223113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04B5B"/>
                </a:solidFill>
                <a:latin typeface="Calibri"/>
              </a:rPr>
              <a:t>Score 0-100
attribué par marché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622792" y="2523744"/>
            <a:ext cx="1609344" cy="54864"/>
          </a:xfrm>
          <a:prstGeom prst="rect">
            <a:avLst/>
          </a:prstGeom>
          <a:solidFill>
            <a:srgbClr val="C9CE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32136" y="2240280"/>
            <a:ext cx="621792" cy="621792"/>
          </a:xfrm>
          <a:prstGeom prst="ellipse">
            <a:avLst/>
          </a:prstGeom>
          <a:solidFill>
            <a:srgbClr val="DA3D44"/>
          </a:solidFill>
          <a:ln w="254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32136" y="2240280"/>
            <a:ext cx="621792" cy="6217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27464" y="2953512"/>
            <a:ext cx="22311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Recommandation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27464" y="3246120"/>
            <a:ext cx="2231136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404B5B"/>
                </a:solidFill>
                <a:latin typeface="Calibri"/>
              </a:rPr>
              <a:t>Attractif / Neutre /
À éviter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416052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4160520"/>
            <a:ext cx="3703320" cy="41148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160520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ATTRACTIF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66344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Score ≥ 70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07492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404B5B"/>
                </a:solidFill>
                <a:latin typeface="Calibri"/>
              </a:rPr>
              <a:t>Marché à prioriser — souscription active, allocation de capacité renforcée.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16052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297680" y="4160520"/>
            <a:ext cx="3703320" cy="411480"/>
          </a:xfrm>
          <a:prstGeom prst="rect">
            <a:avLst/>
          </a:prstGeom>
          <a:solidFill>
            <a:srgbClr val="FCB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97680" y="4160520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NEUTRE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80560" y="466344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Score 40-69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480560" y="507492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404B5B"/>
                </a:solidFill>
                <a:latin typeface="Calibri"/>
              </a:rPr>
              <a:t>Maintenir position — surveiller les inflexions macro et réglementaires.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92440" y="4160520"/>
            <a:ext cx="370332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092440" y="4160520"/>
            <a:ext cx="3703320" cy="411480"/>
          </a:xfrm>
          <a:prstGeom prst="rect">
            <a:avLst/>
          </a:prstGeom>
          <a:solidFill>
            <a:srgbClr val="D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92440" y="4160520"/>
            <a:ext cx="370332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À ÉVITER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75320" y="4663440"/>
            <a:ext cx="3337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Score &lt; 40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75320" y="5074920"/>
            <a:ext cx="333756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050" b="0" i="0">
                <a:solidFill>
                  <a:srgbClr val="404B5B"/>
                </a:solidFill>
                <a:latin typeface="Calibri"/>
              </a:rPr>
              <a:t>Risque &gt; rentabilité — désengagement progressif ou capacité plafonnée.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02920" y="6126480"/>
            <a:ext cx="11155680" cy="365760"/>
          </a:xfrm>
          <a:prstGeom prst="roundRect">
            <a:avLst>
              <a:gd name="adj" fmla="val 20000"/>
            </a:avLst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77240" y="6126480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1">
                <a:solidFill>
                  <a:srgbClr val="92AF38"/>
                </a:solidFill>
                <a:latin typeface="Calibri"/>
              </a:rPr>
              <a:t>Validation LOCO = robustesse hors-échantillon — chaque pays scoré sans avoir vu son historique d'entraînement.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07 · Axe 3 — Machine Learning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33 / 36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>
            <a:off x="7772400" y="-731520"/>
            <a:ext cx="6400800" cy="8503920"/>
          </a:xfrm>
          <a:prstGeom prst="parallelogram">
            <a:avLst>
              <a:gd name="adj" fmla="val 45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914400" cy="9144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2860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92AF38"/>
                </a:solidFill>
                <a:latin typeface="Calibri"/>
              </a:rPr>
              <a:t>SECTION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743200"/>
            <a:ext cx="10058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Calibri"/>
              </a:rPr>
              <a:t>Convergence &amp; bilan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2976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 i="1">
                <a:solidFill>
                  <a:srgbClr val="C9CED6"/>
                </a:solidFill>
                <a:latin typeface="Calibri"/>
              </a:rPr>
              <a:t>Croisement interne / externe, indicateurs de réalisation et perspectives.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640080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0" i="0">
                <a:solidFill>
                  <a:srgbClr val="92AF38"/>
                </a:solidFill>
                <a:latin typeface="Calibri"/>
              </a:rPr>
              <a:t>34 / 36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08 · CONVERGENCE &amp; 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Vue de synergie — identifier les marchés sous-exploités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83080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1C2F46"/>
                </a:solidFill>
                <a:latin typeface="Calibri"/>
              </a:rPr>
              <a:t>Croiser exposition propre × attractivité de marché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240280"/>
            <a:ext cx="521208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Mise en regard : exposition propre (Axe 2) × attractivité de marché (Axe 3).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Calcul d'un taux de pénétration relatif par marché.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Marchés attractifs mais sous-exploités → cibles de développement.</a:t>
            </a:r>
          </a:p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200" b="1">
                <a:solidFill>
                  <a:srgbClr val="738C2C"/>
                </a:solidFill>
                <a:latin typeface="Calibri"/>
              </a:rPr>
              <a:t>●  </a:t>
            </a:r>
            <a:r>
              <a:rPr sz="1200">
                <a:solidFill>
                  <a:srgbClr val="404B5B"/>
                </a:solidFill>
                <a:latin typeface="Calibri"/>
              </a:rPr>
              <a:t>Marchés sur-exposés → arbitrages d'allocation à instruire.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663440"/>
            <a:ext cx="16916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4663440"/>
            <a:ext cx="1691640" cy="36576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507492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Sous-exploités
attractifs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66928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808896"/>
                </a:solidFill>
                <a:latin typeface="Calibri"/>
              </a:rPr>
              <a:t>Cible prioritaire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40280" y="4663440"/>
            <a:ext cx="16916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40280" y="4663440"/>
            <a:ext cx="1691640" cy="365760"/>
          </a:xfrm>
          <a:prstGeom prst="rect">
            <a:avLst/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507492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Bien positionnés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40280" y="566928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808896"/>
                </a:solidFill>
                <a:latin typeface="Calibri"/>
              </a:rPr>
              <a:t>Maintenir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977640" y="4663440"/>
            <a:ext cx="1691640" cy="14173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635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977640" y="4663440"/>
            <a:ext cx="1691640" cy="365760"/>
          </a:xfrm>
          <a:prstGeom prst="rect">
            <a:avLst/>
          </a:prstGeom>
          <a:solidFill>
            <a:srgbClr val="DA3D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77640" y="5074920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1C2F46"/>
                </a:solidFill>
                <a:latin typeface="Calibri"/>
              </a:rPr>
              <a:t>Sur-exposés
risqués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77640" y="5669280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808896"/>
                </a:solidFill>
                <a:latin typeface="Calibri"/>
              </a:rPr>
              <a:t>Arbitrage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1783080"/>
            <a:ext cx="5760720" cy="4663440"/>
          </a:xfrm>
          <a:prstGeom prst="rect">
            <a:avLst/>
          </a:prstGeom>
          <a:solidFill>
            <a:srgbClr val="FFFFFF"/>
          </a:solidFill>
          <a:ln w="19050">
            <a:solidFill>
              <a:srgbClr val="738C2C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0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539728" y="1783080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43600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1539728" y="6281928"/>
            <a:ext cx="164592" cy="164592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572500" y="3474720"/>
            <a:ext cx="502920" cy="365760"/>
          </a:xfrm>
          <a:prstGeom prst="roundRect">
            <a:avLst>
              <a:gd name="adj" fmla="val 20000"/>
            </a:avLst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705088" y="3538728"/>
            <a:ext cx="237744" cy="237744"/>
          </a:xfrm>
          <a:prstGeom prst="ellipse">
            <a:avLst/>
          </a:prstGeom>
          <a:solidFill>
            <a:srgbClr val="92AF38"/>
          </a:solidFill>
          <a:ln w="1524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43600" y="4114800"/>
            <a:ext cx="57607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C4762"/>
                </a:solidFill>
                <a:latin typeface="Calibri"/>
              </a:rPr>
              <a:t>Capture — Page Synergie (route /analyse-synergie)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0" y="4389120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808896"/>
                </a:solidFill>
                <a:latin typeface="Calibri"/>
              </a:rPr>
              <a:t>Zone réservée — insérer la capture après export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08 · Convergence &amp; bilan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35 / 36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"/>
            <a:ext cx="12191695" cy="54864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144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92AF38"/>
                </a:solidFill>
                <a:latin typeface="Calibri"/>
              </a:rPr>
              <a:t>08 · CONVERGENCE &amp; BILAN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91440"/>
            <a:ext cx="1828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Calibri"/>
              </a:rPr>
              <a:t>ATLANTIC 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713232"/>
            <a:ext cx="11155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Indicateurs de réalisation — ce qui a été livré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640080" cy="36576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26974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011680"/>
            <a:ext cx="91440" cy="86868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6596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5603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Sources ETL fédérées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783080"/>
            <a:ext cx="26974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91840" y="2011680"/>
            <a:ext cx="91440" cy="86868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196596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&gt; 95 %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66160" y="25603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Recall matching cédantes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80760" y="1783080"/>
            <a:ext cx="26974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2011680"/>
            <a:ext cx="91440" cy="868680"/>
          </a:xfrm>
          <a:prstGeom prst="rect">
            <a:avLst/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196596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31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5603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Pages applicatives livrées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69680" y="1783080"/>
            <a:ext cx="26974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69680" y="2011680"/>
            <a:ext cx="91440" cy="868680"/>
          </a:xfrm>
          <a:prstGeom prst="rect">
            <a:avLst/>
          </a:prstGeom>
          <a:solidFill>
            <a:srgbClr val="92A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96596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16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256032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Besoins fonctionnels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3291840"/>
            <a:ext cx="26974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" y="3520440"/>
            <a:ext cx="91440" cy="868680"/>
          </a:xfrm>
          <a:prstGeom prst="rect">
            <a:avLst/>
          </a:prstGeom>
          <a:solidFill>
            <a:srgbClr val="738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347472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34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0690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Pays scorés par SCAR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291840" y="3291840"/>
            <a:ext cx="26974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3520440"/>
            <a:ext cx="91440" cy="868680"/>
          </a:xfrm>
          <a:prstGeom prst="rect">
            <a:avLst/>
          </a:prstGeom>
          <a:solidFill>
            <a:srgbClr val="2C47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6160" y="347472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66160" y="40690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Dimensions du modèle ML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080760" y="3291840"/>
            <a:ext cx="26974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080760" y="3520440"/>
            <a:ext cx="91440" cy="868680"/>
          </a:xfrm>
          <a:prstGeom prst="rect">
            <a:avLst/>
          </a:prstGeom>
          <a:solidFill>
            <a:srgbClr val="3D5C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55080" y="347472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LOCO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40690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Validation hors-échantillon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869680" y="3291840"/>
            <a:ext cx="2697480" cy="13258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869680" y="3520440"/>
            <a:ext cx="91440" cy="868680"/>
          </a:xfrm>
          <a:prstGeom prst="rect">
            <a:avLst/>
          </a:prstGeom>
          <a:solidFill>
            <a:srgbClr val="92AF3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0" y="3474720"/>
            <a:ext cx="23317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1C2F46"/>
                </a:solidFill>
                <a:latin typeface="Calibri"/>
              </a:rPr>
              <a:t>100 %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0" y="4069080"/>
            <a:ext cx="2331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04B5B"/>
                </a:solidFill>
                <a:latin typeface="Calibri"/>
              </a:rPr>
              <a:t>Actions tracées + RBAC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02920" y="4937760"/>
            <a:ext cx="11155680" cy="1508760"/>
          </a:xfrm>
          <a:prstGeom prst="roundRect">
            <a:avLst>
              <a:gd name="adj" fmla="val 6000"/>
            </a:avLst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029200"/>
            <a:ext cx="10698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92AF38"/>
                </a:solidFill>
                <a:latin typeface="Calibri"/>
              </a:rPr>
              <a:t>POUR LA DIRECTION GÉNÉRALE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77240" y="5349240"/>
            <a:ext cx="10698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Trois axes — un pipeline ETL, une plate-forme métier, un modèle ML — au service de la décision.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" y="5806440"/>
            <a:ext cx="10698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92AF38"/>
                </a:solidFill>
                <a:latin typeface="Calibri"/>
              </a:rPr>
              <a:t>●  </a:t>
            </a:r>
            <a:r>
              <a:rPr sz="1100">
                <a:solidFill>
                  <a:srgbClr val="FFFFFF"/>
                </a:solidFill>
                <a:latin typeface="Calibri"/>
              </a:rPr>
              <a:t>Axe 1 ETL — fondations data fiables, traçables, reproductibles.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92AF38"/>
                </a:solidFill>
                <a:latin typeface="Calibri"/>
              </a:rPr>
              <a:t>●  </a:t>
            </a:r>
            <a:r>
              <a:rPr sz="1100">
                <a:solidFill>
                  <a:srgbClr val="FFFFFF"/>
                </a:solidFill>
                <a:latin typeface="Calibri"/>
              </a:rPr>
              <a:t>Axe 2 Plate-forme — fiabilisation cédantes + temps d'analyse réduit (jours → minutes).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00" b="1">
                <a:solidFill>
                  <a:srgbClr val="92AF38"/>
                </a:solidFill>
                <a:latin typeface="Calibri"/>
              </a:rPr>
              <a:t>●  </a:t>
            </a:r>
            <a:r>
              <a:rPr sz="1100">
                <a:solidFill>
                  <a:srgbClr val="FFFFFF"/>
                </a:solidFill>
                <a:latin typeface="Calibri"/>
              </a:rPr>
              <a:t>Axe 3 ML — cadre quantitatif SCAR pour objectiver les arbitrages Reach2030.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C2F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58368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92AF38"/>
                </a:solidFill>
                <a:latin typeface="Calibri"/>
              </a:rPr>
              <a:t>08 · Convergence &amp; bilan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058400" y="6583680"/>
            <a:ext cx="182880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FFFFFF"/>
                </a:solidFill>
                <a:latin typeface="Calibri"/>
              </a:rPr>
              <a:t>36 /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